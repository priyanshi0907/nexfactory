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3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($M)</c:v>
                </c:pt>
              </c:strCache>
            </c:strRef>
          </c:tx>
          <c:spPr>
            <a:solidFill>
              <a:srgbClr val="00D9A3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2025</c:v>
                </c:pt>
                <c:pt idx="1">
                  <c:v>2027</c:v>
                </c:pt>
                <c:pt idx="2">
                  <c:v>2029</c:v>
                </c:pt>
                <c:pt idx="3">
                  <c:v>2032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614</c:v>
                </c:pt>
                <c:pt idx="1">
                  <c:v>1090</c:v>
                </c:pt>
                <c:pt idx="2">
                  <c:v>2000</c:v>
                </c:pt>
                <c:pt idx="3">
                  <c:v>4015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09-469E-8390-98FA5297842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FC2D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4675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 slide. Update College name before submission. Team Gamma is competing with the same PredictIQ build for both n-InC's Deeptech Bharat Hackathon and Build With Bharat 2026 — framing differs by pitch, not by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script: 1) Open dashboard, all machines green. 2) Trigger the simulator's injected anomaly live — watch Line C spike to red. 3) Show the AI alert explaining why (vibration 3x baseline). 4) Show the ROI page converting the alert into rupees saved. 5) Close with: 'Real sensors plug into the same ingestion API — this is a hardware-agnostic platform, ready to pilot with a real factory.'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2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5029200" cy="5029200"/>
          </a:xfrm>
          <a:prstGeom prst="ellipse">
            <a:avLst/>
          </a:prstGeom>
          <a:solidFill>
            <a:srgbClr val="1B3358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822960"/>
            <a:ext cx="3108960" cy="3108960"/>
          </a:xfrm>
          <a:prstGeom prst="ellipse">
            <a:avLst/>
          </a:prstGeom>
          <a:solidFill>
            <a:srgbClr val="132A46"/>
          </a:solidFill>
          <a:ln/>
        </p:spPr>
      </p:sp>
      <p:sp>
        <p:nvSpPr>
          <p:cNvPr id="4" name="Shape 2"/>
          <p:cNvSpPr/>
          <p:nvPr/>
        </p:nvSpPr>
        <p:spPr>
          <a:xfrm>
            <a:off x="-2011680" y="4754880"/>
            <a:ext cx="4114800" cy="41148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5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411480"/>
            <a:ext cx="1417320" cy="745236"/>
          </a:xfrm>
          <a:prstGeom prst="rect">
            <a:avLst/>
          </a:prstGeom>
        </p:spPr>
      </p:pic>
      <p:pic>
        <p:nvPicPr>
          <p:cNvPr id="6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00055" y="4572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957255" y="4389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502920" y="16916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—  NATIONAL LEVEL HACKATHON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201168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PredictIQ</a:t>
            </a:r>
            <a:endParaRPr lang="en-US" sz="7600" dirty="0"/>
          </a:p>
        </p:txBody>
      </p:sp>
      <p:sp>
        <p:nvSpPr>
          <p:cNvPr id="10" name="Text 6"/>
          <p:cNvSpPr/>
          <p:nvPr/>
        </p:nvSpPr>
        <p:spPr>
          <a:xfrm>
            <a:off x="521208" y="32461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predicts machine failure — before it happens.</a:t>
            </a:r>
            <a:endParaRPr lang="en-US" sz="2000" dirty="0"/>
          </a:p>
        </p:txBody>
      </p:sp>
      <p:sp>
        <p:nvSpPr>
          <p:cNvPr id="11" name="Shape 7"/>
          <p:cNvSpPr/>
          <p:nvPr/>
        </p:nvSpPr>
        <p:spPr>
          <a:xfrm>
            <a:off x="521208" y="3931920"/>
            <a:ext cx="4846320" cy="0"/>
          </a:xfrm>
          <a:prstGeom prst="line">
            <a:avLst/>
          </a:prstGeom>
          <a:noFill/>
          <a:ln w="25400">
            <a:solidFill>
              <a:srgbClr val="00D9A3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21208" y="4206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2514600" y="4206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521208" y="4626864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51460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AI/ML, IoT, Smart Sensor &amp; Industrial Automation — Predictive Maintenance for MSME Manufacturing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21208" y="5047488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2514600" y="504748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Choudhary  •  Raina Goel  •  Kunal Chauhan  •  Kartik Tyagi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21208" y="5468112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2514600" y="546811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Jagannath University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India's factories run on guesswork, not data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1417320"/>
            <a:ext cx="64922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Indian MSME manufacturers still practice reactive maintenance — machines run until they break, then get fixed. There's no early warning, no visibility into machine health, and no way to see energy being wasted by a degrading motor. Enterprise platforms exist, but they're built — and priced — for large factories, not MSMEs.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502920" y="2788920"/>
            <a:ext cx="3108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704088" y="2971800"/>
            <a:ext cx="457200" cy="457200"/>
          </a:xfrm>
          <a:prstGeom prst="ellipse">
            <a:avLst/>
          </a:prstGeom>
          <a:solidFill>
            <a:srgbClr val="FBEAE3"/>
          </a:solidFill>
          <a:ln/>
        </p:spPr>
      </p:sp>
      <p:pic>
        <p:nvPicPr>
          <p:cNvPr id="10" name="Image 2" descr="icons/alert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3816" y="3081528"/>
            <a:ext cx="237744" cy="23774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07592" y="29535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early warning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704088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are discovered only after the machine has already stopped.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3840480" y="2788920"/>
            <a:ext cx="3108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4041648" y="2971800"/>
            <a:ext cx="457200" cy="457200"/>
          </a:xfrm>
          <a:prstGeom prst="ellipse">
            <a:avLst/>
          </a:prstGeom>
          <a:solidFill>
            <a:srgbClr val="FBEAE3"/>
          </a:solidFill>
          <a:ln/>
        </p:spPr>
      </p:sp>
      <p:pic>
        <p:nvPicPr>
          <p:cNvPr id="15" name="Image 3" descr="icons/eye_r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51376" y="308152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645152" y="29535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real-time visibility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041648" y="356616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live view of vibration, temperature, current draw, or RPM on the floor.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502920" y="4480560"/>
            <a:ext cx="3108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704088" y="4663440"/>
            <a:ext cx="457200" cy="457200"/>
          </a:xfrm>
          <a:prstGeom prst="ellipse">
            <a:avLst/>
          </a:prstGeom>
          <a:solidFill>
            <a:srgbClr val="FBEAE3"/>
          </a:solidFill>
          <a:ln/>
        </p:spPr>
      </p:sp>
      <p:pic>
        <p:nvPicPr>
          <p:cNvPr id="20" name="Image 4" descr="icons/bol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816" y="4773168"/>
            <a:ext cx="237744" cy="23774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07592" y="46451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energy waste</a:t>
            </a:r>
            <a:endParaRPr lang="en-US" sz="1250" dirty="0"/>
          </a:p>
        </p:txBody>
      </p:sp>
      <p:sp>
        <p:nvSpPr>
          <p:cNvPr id="22" name="Text 15"/>
          <p:cNvSpPr/>
          <p:nvPr/>
        </p:nvSpPr>
        <p:spPr>
          <a:xfrm>
            <a:off x="704088" y="5257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Degrading motors draw excess power for weeks before anyone notices.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840480" y="4480560"/>
            <a:ext cx="3108960" cy="150876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4041648" y="4663440"/>
            <a:ext cx="457200" cy="457200"/>
          </a:xfrm>
          <a:prstGeom prst="ellipse">
            <a:avLst/>
          </a:prstGeom>
          <a:solidFill>
            <a:srgbClr val="FBEAE3"/>
          </a:solidFill>
          <a:ln/>
        </p:spPr>
      </p:sp>
      <p:pic>
        <p:nvPicPr>
          <p:cNvPr id="25" name="Image 5" descr="icons/rupee_r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51376" y="4773168"/>
            <a:ext cx="237744" cy="237744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645152" y="464515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tools, enterprise prices</a:t>
            </a:r>
            <a:endParaRPr lang="en-US" sz="1250" dirty="0"/>
          </a:p>
        </p:txBody>
      </p:sp>
      <p:sp>
        <p:nvSpPr>
          <p:cNvPr id="27" name="Text 19"/>
          <p:cNvSpPr/>
          <p:nvPr/>
        </p:nvSpPr>
        <p:spPr>
          <a:xfrm>
            <a:off x="4041648" y="5257800"/>
            <a:ext cx="2743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 Senseye / GE Predix-class platforms are built for large plants, not MSMEs.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7269480" y="1417320"/>
            <a:ext cx="4434840" cy="4937760"/>
          </a:xfrm>
          <a:prstGeom prst="roundRect">
            <a:avLst>
              <a:gd name="adj" fmla="val 2062"/>
            </a:avLst>
          </a:prstGeom>
          <a:solidFill>
            <a:srgbClr val="0B1F3A"/>
          </a:solidFill>
          <a:ln/>
        </p:spPr>
      </p:sp>
      <p:sp>
        <p:nvSpPr>
          <p:cNvPr id="29" name="Text 21"/>
          <p:cNvSpPr/>
          <p:nvPr/>
        </p:nvSpPr>
        <p:spPr>
          <a:xfrm>
            <a:off x="7589520" y="1645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INDIA, RIGHT NOW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7589520" y="205740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88%</a:t>
            </a:r>
            <a:endParaRPr lang="en-US" sz="2900" dirty="0"/>
          </a:p>
        </p:txBody>
      </p:sp>
      <p:sp>
        <p:nvSpPr>
          <p:cNvPr id="31" name="Text 23"/>
          <p:cNvSpPr/>
          <p:nvPr/>
        </p:nvSpPr>
        <p:spPr>
          <a:xfrm>
            <a:off x="7589520" y="247802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Indian industrial businesses suffer unplanned outages at least once a month</a:t>
            </a:r>
            <a:endParaRPr lang="en-US" sz="970" dirty="0"/>
          </a:p>
        </p:txBody>
      </p:sp>
      <p:sp>
        <p:nvSpPr>
          <p:cNvPr id="32" name="Text 24"/>
          <p:cNvSpPr/>
          <p:nvPr/>
        </p:nvSpPr>
        <p:spPr>
          <a:xfrm>
            <a:off x="7589520" y="301752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₹7M</a:t>
            </a:r>
            <a:endParaRPr lang="en-US" sz="2900" dirty="0"/>
          </a:p>
        </p:txBody>
      </p:sp>
      <p:sp>
        <p:nvSpPr>
          <p:cNvPr id="33" name="Text 25"/>
          <p:cNvSpPr/>
          <p:nvPr/>
        </p:nvSpPr>
        <p:spPr>
          <a:xfrm>
            <a:off x="7589520" y="343814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for every single hour of unplanned downtime, on average</a:t>
            </a:r>
            <a:endParaRPr lang="en-US" sz="970" dirty="0"/>
          </a:p>
        </p:txBody>
      </p:sp>
      <p:sp>
        <p:nvSpPr>
          <p:cNvPr id="34" name="Text 26"/>
          <p:cNvSpPr/>
          <p:nvPr/>
        </p:nvSpPr>
        <p:spPr>
          <a:xfrm>
            <a:off x="7589520" y="397764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16.5M+</a:t>
            </a:r>
            <a:endParaRPr lang="en-US" sz="2900" dirty="0"/>
          </a:p>
        </p:txBody>
      </p:sp>
      <p:sp>
        <p:nvSpPr>
          <p:cNvPr id="35" name="Text 27"/>
          <p:cNvSpPr/>
          <p:nvPr/>
        </p:nvSpPr>
        <p:spPr>
          <a:xfrm>
            <a:off x="7589520" y="439826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MSMEs in India — almost none have predictive tooling</a:t>
            </a:r>
            <a:endParaRPr lang="en-US" sz="970" dirty="0"/>
          </a:p>
        </p:txBody>
      </p:sp>
      <p:sp>
        <p:nvSpPr>
          <p:cNvPr id="36" name="Text 28"/>
          <p:cNvSpPr/>
          <p:nvPr/>
        </p:nvSpPr>
        <p:spPr>
          <a:xfrm>
            <a:off x="7589520" y="4937760"/>
            <a:ext cx="3794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50%+</a:t>
            </a:r>
            <a:endParaRPr lang="en-US" sz="2900" dirty="0"/>
          </a:p>
        </p:txBody>
      </p:sp>
      <p:sp>
        <p:nvSpPr>
          <p:cNvPr id="37" name="Text 29"/>
          <p:cNvSpPr/>
          <p:nvPr/>
        </p:nvSpPr>
        <p:spPr>
          <a:xfrm>
            <a:off x="7589520" y="5358384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97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sudden failures achievable with real-time condition monitoring</a:t>
            </a:r>
            <a:endParaRPr lang="en-US" sz="970" dirty="0"/>
          </a:p>
        </p:txBody>
      </p:sp>
      <p:sp>
        <p:nvSpPr>
          <p:cNvPr id="38" name="Text 30"/>
          <p:cNvSpPr/>
          <p:nvPr/>
        </p:nvSpPr>
        <p:spPr>
          <a:xfrm>
            <a:off x="7589520" y="5989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20" i="1" dirty="0">
                <a:solidFill>
                  <a:srgbClr val="6E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ABB / Sapio Research “Value of Reliability”; P&amp;S Intelligence India PdM Market Report</a:t>
            </a:r>
            <a:endParaRPr lang="en-US" sz="720" dirty="0"/>
          </a:p>
        </p:txBody>
      </p:sp>
      <p:sp>
        <p:nvSpPr>
          <p:cNvPr id="39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dashboard. Four jobs. Zero guesswork.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13716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 turns raw sensor signals into a plain-English risk score and a rupee figure — so a machine operator and a factory owner see the same story.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02920" y="20574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822960" y="237744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/>
        </p:spPr>
      </p:sp>
      <p:pic>
        <p:nvPicPr>
          <p:cNvPr id="10" name="Image 2" descr="icons/gaug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7552" y="254203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16636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82296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Monitoring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22960" y="35204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vibration, temperature, current draw and RPM per machine — refreshed continuously, not on a weekly report.</a:t>
            </a:r>
            <a:endParaRPr lang="en-US" sz="1080" dirty="0"/>
          </a:p>
        </p:txBody>
      </p:sp>
      <p:sp>
        <p:nvSpPr>
          <p:cNvPr id="14" name="Shape 9"/>
          <p:cNvSpPr/>
          <p:nvPr/>
        </p:nvSpPr>
        <p:spPr>
          <a:xfrm>
            <a:off x="6217920" y="205740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6537960" y="237744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/>
        </p:spPr>
      </p:sp>
      <p:pic>
        <p:nvPicPr>
          <p:cNvPr id="16" name="Image 3" descr="icons/brain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2552" y="2542032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881360" y="233172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537960" y="31546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Failure Prediction</a:t>
            </a:r>
            <a:endParaRPr lang="en-US" sz="1550" dirty="0"/>
          </a:p>
        </p:txBody>
      </p:sp>
      <p:sp>
        <p:nvSpPr>
          <p:cNvPr id="19" name="Text 13"/>
          <p:cNvSpPr/>
          <p:nvPr/>
        </p:nvSpPr>
        <p:spPr>
          <a:xfrm>
            <a:off x="6537960" y="352044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anomaly-detection model scores every machine's failure risk in real time and explains why it flagged it.</a:t>
            </a:r>
            <a:endParaRPr lang="en-US" sz="1080" dirty="0"/>
          </a:p>
        </p:txBody>
      </p:sp>
      <p:sp>
        <p:nvSpPr>
          <p:cNvPr id="20" name="Shape 14"/>
          <p:cNvSpPr/>
          <p:nvPr/>
        </p:nvSpPr>
        <p:spPr>
          <a:xfrm>
            <a:off x="502920" y="43891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22960" y="470916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/>
        </p:spPr>
      </p:sp>
      <p:pic>
        <p:nvPicPr>
          <p:cNvPr id="22" name="Image 4" descr="icons/bol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7552" y="4873752"/>
            <a:ext cx="329184" cy="32918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16636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24" name="Text 17"/>
          <p:cNvSpPr/>
          <p:nvPr/>
        </p:nvSpPr>
        <p:spPr>
          <a:xfrm>
            <a:off x="822960" y="5486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Insights</a:t>
            </a:r>
            <a:endParaRPr lang="en-US" sz="1550" dirty="0"/>
          </a:p>
        </p:txBody>
      </p:sp>
      <p:sp>
        <p:nvSpPr>
          <p:cNvPr id="25" name="Text 18"/>
          <p:cNvSpPr/>
          <p:nvPr/>
        </p:nvSpPr>
        <p:spPr>
          <a:xfrm>
            <a:off x="822960" y="58521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machines drawing abnormal power and estimates exactly how much electricity is being wasted.</a:t>
            </a:r>
            <a:endParaRPr lang="en-US" sz="1080" dirty="0"/>
          </a:p>
        </p:txBody>
      </p:sp>
      <p:sp>
        <p:nvSpPr>
          <p:cNvPr id="26" name="Shape 19"/>
          <p:cNvSpPr/>
          <p:nvPr/>
        </p:nvSpPr>
        <p:spPr>
          <a:xfrm>
            <a:off x="6217920" y="4389120"/>
            <a:ext cx="544068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76200" dist="25400" dir="5400000" algn="bl" rotWithShape="0">
              <a:srgbClr val="9BB0C4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6537960" y="4709160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B1F3A"/>
          </a:solidFill>
          <a:ln/>
        </p:spPr>
      </p:sp>
      <p:pic>
        <p:nvPicPr>
          <p:cNvPr id="28" name="Image 5" descr="icons/rupe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702552" y="4873752"/>
            <a:ext cx="329184" cy="32918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0881360" y="466344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D5DE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6537960" y="54864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Dashboard</a:t>
            </a:r>
            <a:endParaRPr lang="en-US" sz="1550" dirty="0"/>
          </a:p>
        </p:txBody>
      </p:sp>
      <p:sp>
        <p:nvSpPr>
          <p:cNvPr id="31" name="Text 23"/>
          <p:cNvSpPr/>
          <p:nvPr/>
        </p:nvSpPr>
        <p:spPr>
          <a:xfrm>
            <a:off x="6537960" y="5852160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every alert into “money saved” — so the value is obvious to a non-technical factory owner.</a:t>
            </a:r>
            <a:endParaRPr lang="en-US" sz="1080" dirty="0"/>
          </a:p>
        </p:txBody>
      </p:sp>
      <p:sp>
        <p:nvSpPr>
          <p:cNvPr id="32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33" name="Text 2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pipeline — real sensors or simulated.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2377440" y="3771900"/>
            <a:ext cx="453314" cy="0"/>
          </a:xfrm>
          <a:prstGeom prst="line">
            <a:avLst/>
          </a:prstGeom>
          <a:noFill/>
          <a:ln w="22225">
            <a:solidFill>
              <a:srgbClr val="00D9A3"/>
            </a:solidFill>
            <a:prstDash val="solid"/>
            <a:tailEnd type="triangle"/>
          </a:ln>
        </p:spPr>
      </p:sp>
      <p:sp>
        <p:nvSpPr>
          <p:cNvPr id="8" name="Shape 4"/>
          <p:cNvSpPr/>
          <p:nvPr/>
        </p:nvSpPr>
        <p:spPr>
          <a:xfrm>
            <a:off x="502920" y="27889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147572" y="2990088"/>
            <a:ext cx="585216" cy="585216"/>
          </a:xfrm>
          <a:prstGeom prst="ellipse">
            <a:avLst/>
          </a:prstGeom>
          <a:solidFill>
            <a:srgbClr val="0B1F3A"/>
          </a:solidFill>
          <a:ln w="15875">
            <a:solidFill>
              <a:srgbClr val="00D9A3"/>
            </a:solidFill>
            <a:prstDash val="solid"/>
          </a:ln>
        </p:spPr>
      </p:sp>
      <p:pic>
        <p:nvPicPr>
          <p:cNvPr id="10" name="Image 2" descr="icons/wifi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66444" y="310896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94360" y="3685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76072" y="4014216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• Temp • Current • RPM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576072" y="4325112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for demo — IoT-ready</a:t>
            </a:r>
            <a:endParaRPr lang="en-US" sz="800" dirty="0"/>
          </a:p>
        </p:txBody>
      </p:sp>
      <p:sp>
        <p:nvSpPr>
          <p:cNvPr id="14" name="Shape 9"/>
          <p:cNvSpPr/>
          <p:nvPr/>
        </p:nvSpPr>
        <p:spPr>
          <a:xfrm>
            <a:off x="4705274" y="3771900"/>
            <a:ext cx="453314" cy="0"/>
          </a:xfrm>
          <a:prstGeom prst="line">
            <a:avLst/>
          </a:prstGeom>
          <a:noFill/>
          <a:ln w="22225">
            <a:solidFill>
              <a:srgbClr val="00D9A3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2830754" y="27889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3475406" y="2990088"/>
            <a:ext cx="585216" cy="585216"/>
          </a:xfrm>
          <a:prstGeom prst="ellipse">
            <a:avLst/>
          </a:prstGeom>
          <a:solidFill>
            <a:srgbClr val="0B1F3A"/>
          </a:solidFill>
          <a:ln w="15875">
            <a:solidFill>
              <a:srgbClr val="00D9A3"/>
            </a:solidFill>
            <a:prstDash val="solid"/>
          </a:ln>
        </p:spPr>
      </p:sp>
      <p:pic>
        <p:nvPicPr>
          <p:cNvPr id="17" name="Image 3" descr="icons/plug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94278" y="3108960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922194" y="3685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API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2903906" y="4014216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2903906" y="4325112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/ REST</a:t>
            </a:r>
            <a:endParaRPr lang="en-US" sz="800" dirty="0"/>
          </a:p>
        </p:txBody>
      </p:sp>
      <p:sp>
        <p:nvSpPr>
          <p:cNvPr id="21" name="Shape 15"/>
          <p:cNvSpPr/>
          <p:nvPr/>
        </p:nvSpPr>
        <p:spPr>
          <a:xfrm>
            <a:off x="7033108" y="3771900"/>
            <a:ext cx="453314" cy="0"/>
          </a:xfrm>
          <a:prstGeom prst="line">
            <a:avLst/>
          </a:prstGeom>
          <a:noFill/>
          <a:ln w="22225">
            <a:solidFill>
              <a:srgbClr val="00D9A3"/>
            </a:solidFill>
            <a:prstDash val="solid"/>
            <a:tailEnd type="triangle"/>
          </a:ln>
        </p:spPr>
      </p:sp>
      <p:sp>
        <p:nvSpPr>
          <p:cNvPr id="22" name="Shape 16"/>
          <p:cNvSpPr/>
          <p:nvPr/>
        </p:nvSpPr>
        <p:spPr>
          <a:xfrm>
            <a:off x="5158588" y="27889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803240" y="2990088"/>
            <a:ext cx="585216" cy="585216"/>
          </a:xfrm>
          <a:prstGeom prst="ellipse">
            <a:avLst/>
          </a:prstGeom>
          <a:solidFill>
            <a:srgbClr val="0B1F3A"/>
          </a:solidFill>
          <a:ln w="15875">
            <a:solidFill>
              <a:srgbClr val="00D9A3"/>
            </a:solidFill>
            <a:prstDash val="solid"/>
          </a:ln>
        </p:spPr>
      </p:sp>
      <p:pic>
        <p:nvPicPr>
          <p:cNvPr id="24" name="Image 4" descr="icons/databas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22112" y="3108960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250028" y="3685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Store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5231740" y="4014216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sensor feed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5231740" y="4325112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reading, every alert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9360941" y="3771900"/>
            <a:ext cx="453314" cy="0"/>
          </a:xfrm>
          <a:prstGeom prst="line">
            <a:avLst/>
          </a:prstGeom>
          <a:noFill/>
          <a:ln w="22225">
            <a:solidFill>
              <a:srgbClr val="00D9A3"/>
            </a:solidFill>
            <a:prstDash val="solid"/>
            <a:tailEnd type="triangle"/>
          </a:ln>
        </p:spPr>
      </p:sp>
      <p:sp>
        <p:nvSpPr>
          <p:cNvPr id="29" name="Shape 22"/>
          <p:cNvSpPr/>
          <p:nvPr/>
        </p:nvSpPr>
        <p:spPr>
          <a:xfrm>
            <a:off x="7486421" y="27889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31073" y="2990088"/>
            <a:ext cx="585216" cy="585216"/>
          </a:xfrm>
          <a:prstGeom prst="ellipse">
            <a:avLst/>
          </a:prstGeom>
          <a:solidFill>
            <a:srgbClr val="0B1F3A"/>
          </a:solidFill>
          <a:ln w="15875">
            <a:solidFill>
              <a:srgbClr val="00D9A3"/>
            </a:solidFill>
            <a:prstDash val="solid"/>
          </a:ln>
        </p:spPr>
      </p:sp>
      <p:pic>
        <p:nvPicPr>
          <p:cNvPr id="31" name="Image 5" descr="icons/brain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9945" y="3108960"/>
            <a:ext cx="347472" cy="34747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577861" y="3685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7559573" y="4014216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microservice</a:t>
            </a:r>
            <a:endParaRPr lang="en-US" sz="900" dirty="0"/>
          </a:p>
        </p:txBody>
      </p:sp>
      <p:sp>
        <p:nvSpPr>
          <p:cNvPr id="34" name="Text 26"/>
          <p:cNvSpPr/>
          <p:nvPr/>
        </p:nvSpPr>
        <p:spPr>
          <a:xfrm>
            <a:off x="7559573" y="4325112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/ z-score</a:t>
            </a:r>
            <a:endParaRPr lang="en-US" sz="800" dirty="0"/>
          </a:p>
        </p:txBody>
      </p:sp>
      <p:sp>
        <p:nvSpPr>
          <p:cNvPr id="35" name="Shape 27"/>
          <p:cNvSpPr/>
          <p:nvPr/>
        </p:nvSpPr>
        <p:spPr>
          <a:xfrm>
            <a:off x="9814255" y="2788920"/>
            <a:ext cx="1874520" cy="1965960"/>
          </a:xfrm>
          <a:prstGeom prst="roundRect">
            <a:avLst>
              <a:gd name="adj" fmla="val 4878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0458907" y="2990088"/>
            <a:ext cx="585216" cy="585216"/>
          </a:xfrm>
          <a:prstGeom prst="ellipse">
            <a:avLst/>
          </a:prstGeom>
          <a:solidFill>
            <a:srgbClr val="0B1F3A"/>
          </a:solidFill>
          <a:ln w="15875">
            <a:solidFill>
              <a:srgbClr val="00D9A3"/>
            </a:solidFill>
            <a:prstDash val="solid"/>
          </a:ln>
        </p:spPr>
      </p:sp>
      <p:pic>
        <p:nvPicPr>
          <p:cNvPr id="37" name="Image 6" descr="icons/desktop_te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77779" y="3108960"/>
            <a:ext cx="347472" cy="3474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9905695" y="3685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9887407" y="4014216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Recharts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9887407" y="4325112"/>
            <a:ext cx="172821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charts, risk, ROI</a:t>
            </a:r>
            <a:endParaRPr lang="en-US" sz="800" dirty="0"/>
          </a:p>
        </p:txBody>
      </p:sp>
      <p:sp>
        <p:nvSpPr>
          <p:cNvPr id="41" name="Shape 32"/>
          <p:cNvSpPr/>
          <p:nvPr/>
        </p:nvSpPr>
        <p:spPr>
          <a:xfrm>
            <a:off x="502920" y="5212080"/>
            <a:ext cx="11185855" cy="868680"/>
          </a:xfrm>
          <a:prstGeom prst="roundRect">
            <a:avLst>
              <a:gd name="adj" fmla="val 8421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pic>
        <p:nvPicPr>
          <p:cNvPr id="42" name="Image 7" descr="icons/lightbulb_amb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5468112"/>
            <a:ext cx="365760" cy="365760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1280160" y="5285232"/>
            <a:ext cx="10195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 by design.  </a:t>
            </a:r>
            <a:r>
              <a:rPr lang="en-US" sz="110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hackathon, “Sensors” is a script generating realistic readings with injected anomaly spikes. Nothing downstream knows or cares whether the data is real or simulated — swap in an ESP32 + vibration/temp/current sensor later with zero code changes.</a:t>
            </a:r>
            <a:endParaRPr lang="en-US" sz="1100" dirty="0"/>
          </a:p>
        </p:txBody>
      </p:sp>
      <p:sp>
        <p:nvSpPr>
          <p:cNvPr id="44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Boring, proven technology — on purpose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502920" y="13716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layer is a widely-used, well-documented tool. That's a feature: it means we ship a working demo in 8 hours, not a research prototype.</a:t>
            </a:r>
            <a:endParaRPr lang="en-US" sz="1250" dirty="0"/>
          </a:p>
        </p:txBody>
      </p:sp>
      <p:sp>
        <p:nvSpPr>
          <p:cNvPr id="8" name="Shape 4"/>
          <p:cNvSpPr/>
          <p:nvPr/>
        </p:nvSpPr>
        <p:spPr>
          <a:xfrm>
            <a:off x="502920" y="1965960"/>
            <a:ext cx="11185855" cy="713232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9" name="Image 2" descr="icons/desktop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2167128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188720" y="196596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50" dirty="0"/>
          </a:p>
        </p:txBody>
      </p:sp>
      <p:sp>
        <p:nvSpPr>
          <p:cNvPr id="11" name="Text 6"/>
          <p:cNvSpPr/>
          <p:nvPr/>
        </p:nvSpPr>
        <p:spPr>
          <a:xfrm>
            <a:off x="2880360" y="1965960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Vite, Recharts, Tailwind CSS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7269480" y="196596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to build, live charts, matches team's existing skillset</a:t>
            </a:r>
            <a:endParaRPr lang="en-US" sz="1050" dirty="0"/>
          </a:p>
        </p:txBody>
      </p:sp>
      <p:pic>
        <p:nvPicPr>
          <p:cNvPr id="13" name="Image 3" descr="icons/server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2880360"/>
            <a:ext cx="310896" cy="31089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8720" y="2679192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2880360" y="2679192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(Python 3.11)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7269480" y="2679192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ingestion API, ML inference, and async telemetry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02920" y="3392424"/>
            <a:ext cx="11185855" cy="713232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18" name="Image 4" descr="icons/databas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232" y="3593592"/>
            <a:ext cx="310896" cy="31089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88720" y="3392424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2880360" y="3392424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 Store</a:t>
            </a:r>
            <a:endParaRPr lang="en-US" sz="1150" dirty="0"/>
          </a:p>
        </p:txBody>
      </p:sp>
      <p:sp>
        <p:nvSpPr>
          <p:cNvPr id="21" name="Text 14"/>
          <p:cNvSpPr/>
          <p:nvPr/>
        </p:nvSpPr>
        <p:spPr>
          <a:xfrm>
            <a:off x="7269480" y="3392424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time-series sensor logs and alert history</a:t>
            </a:r>
            <a:endParaRPr lang="en-US" sz="1050" dirty="0"/>
          </a:p>
        </p:txBody>
      </p:sp>
      <p:pic>
        <p:nvPicPr>
          <p:cNvPr id="22" name="Image 5" descr="icons/brain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" y="4306824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88720" y="4105656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250" dirty="0"/>
          </a:p>
        </p:txBody>
      </p:sp>
      <p:sp>
        <p:nvSpPr>
          <p:cNvPr id="24" name="Text 16"/>
          <p:cNvSpPr/>
          <p:nvPr/>
        </p:nvSpPr>
        <p:spPr>
          <a:xfrm>
            <a:off x="2880360" y="4105656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microservice — Isolation Forest (scikit-learn) / rolling z-score</a:t>
            </a:r>
            <a:endParaRPr lang="en-US" sz="1150" dirty="0"/>
          </a:p>
        </p:txBody>
      </p:sp>
      <p:sp>
        <p:nvSpPr>
          <p:cNvPr id="25" name="Text 17"/>
          <p:cNvSpPr/>
          <p:nvPr/>
        </p:nvSpPr>
        <p:spPr>
          <a:xfrm>
            <a:off x="7269480" y="4105656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fast to train, explainable to judges — not a black box</a:t>
            </a:r>
            <a:endParaRPr lang="en-US" sz="1050" dirty="0"/>
          </a:p>
        </p:txBody>
      </p:sp>
      <p:sp>
        <p:nvSpPr>
          <p:cNvPr id="26" name="Shape 18"/>
          <p:cNvSpPr/>
          <p:nvPr/>
        </p:nvSpPr>
        <p:spPr>
          <a:xfrm>
            <a:off x="502920" y="4818888"/>
            <a:ext cx="11185855" cy="713232"/>
          </a:xfrm>
          <a:prstGeom prst="rect">
            <a:avLst/>
          </a:prstGeom>
          <a:solidFill>
            <a:srgbClr val="EDF2F7"/>
          </a:solidFill>
          <a:ln/>
        </p:spPr>
      </p:sp>
      <p:pic>
        <p:nvPicPr>
          <p:cNvPr id="27" name="Image 6" descr="icons/wifi_navy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5020056"/>
            <a:ext cx="310896" cy="310896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1188720" y="4818888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</a:t>
            </a:r>
            <a:endParaRPr lang="en-US" sz="1250" dirty="0"/>
          </a:p>
        </p:txBody>
      </p:sp>
      <p:sp>
        <p:nvSpPr>
          <p:cNvPr id="29" name="Text 20"/>
          <p:cNvSpPr/>
          <p:nvPr/>
        </p:nvSpPr>
        <p:spPr>
          <a:xfrm>
            <a:off x="2880360" y="4818888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sensor simulator with injected anomalies</a:t>
            </a:r>
            <a:endParaRPr lang="en-US" sz="1150" dirty="0"/>
          </a:p>
        </p:txBody>
      </p:sp>
      <p:sp>
        <p:nvSpPr>
          <p:cNvPr id="30" name="Text 21"/>
          <p:cNvSpPr/>
          <p:nvPr/>
        </p:nvSpPr>
        <p:spPr>
          <a:xfrm>
            <a:off x="7269480" y="4818888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Stands in for real IoT hardware for the demo</a:t>
            </a:r>
            <a:endParaRPr lang="en-US" sz="1050" dirty="0"/>
          </a:p>
        </p:txBody>
      </p:sp>
      <p:pic>
        <p:nvPicPr>
          <p:cNvPr id="31" name="Image 7" descr="icons/cloud_nav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3232" y="5733288"/>
            <a:ext cx="310896" cy="310896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188720" y="5532120"/>
            <a:ext cx="16002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2880360" y="5532120"/>
            <a:ext cx="42519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/ Render + GitHub</a:t>
            </a:r>
            <a:endParaRPr lang="en-US" sz="1150" dirty="0"/>
          </a:p>
        </p:txBody>
      </p:sp>
      <p:sp>
        <p:nvSpPr>
          <p:cNvPr id="34" name="Text 24"/>
          <p:cNvSpPr/>
          <p:nvPr/>
        </p:nvSpPr>
        <p:spPr>
          <a:xfrm>
            <a:off x="7269480" y="5532120"/>
            <a:ext cx="44348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fast, gives us a live demo link</a:t>
            </a:r>
            <a:endParaRPr lang="en-US" sz="1050" dirty="0"/>
          </a:p>
        </p:txBody>
      </p:sp>
      <p:sp>
        <p:nvSpPr>
          <p:cNvPr id="35" name="Text 2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36" name="Text 26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WALKTHROUGH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200" dirty="0"/>
          </a:p>
        </p:txBody>
      </p:sp>
      <p:sp>
        <p:nvSpPr>
          <p:cNvPr id="44" name="Text 3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45" name="Text 39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10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248E4F2-3984-557C-53D9-EE62A492C07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029" y="774954"/>
            <a:ext cx="10933942" cy="56258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&amp; INNOVATION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PredictIQ different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502920" y="1508760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1728216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9" name="Image 2" descr="icons/eye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1883664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16276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a black box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600200" y="19842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alert states the reason — “vibration 3x above baseline” — not just a mystery score. Judges (and factory owners) can verify the logic.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734056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31520" y="2953512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4" name="Image 3" descr="icons/plug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310896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28529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Hardware-agnostic from day one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600200" y="3209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same ingestion API accepts simulated data today and real ESP32 + vibration/temp/current sensors tomorrow — no rebuild required.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" y="3959352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" y="4178808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9" name="Image 4" descr="icons/rupee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4334256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40782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ROI-first UX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600200" y="44348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technical alert is auto-converted into a rupee figure, so a non-technical factory owner — not just an engineer — sees the value instantly.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02920" y="5184648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31520" y="5404104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24" name="Image 5" descr="icons/bolt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6968" y="555955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3035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real-time pipeline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1600200" y="56601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streaming flags anomalies the moment they happen, not in a batch report the next morning.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NEW — BEYOND THE ORIGINAL PLAN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upgrades that turn a hackathon build into a fundable product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502920" y="1508760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731520" y="1728216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9" name="Image 2" descr="icons/eye_te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1883664"/>
            <a:ext cx="329184" cy="32918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600200" y="1627632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Useful Life, not just a %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1600200" y="1984248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critical alert now projects forward — “~2 days to bearing failure” — instead of a bare 91% score. That turns an alert into an actual maintenance decision, not just a warning.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02920" y="2734056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731520" y="2953512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4" name="Image 3" descr="icons/plug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968" y="3108960"/>
            <a:ext cx="329184" cy="32918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2852928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WhatsApp-first alerting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1600200" y="3209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floor supervisor doesn't watch a dashboard all day — he reads WhatsApp. Every critical alert is modeled as a push to the floor, not just a badge nobody opens.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502920" y="3959352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31520" y="4178808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19" name="Image 4" descr="icons/rupee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6968" y="4334256"/>
            <a:ext cx="329184" cy="3291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600200" y="4078224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Aligned to real MSME schemes</a:t>
            </a:r>
            <a:endParaRPr lang="en-US" sz="1450" dirty="0"/>
          </a:p>
        </p:txBody>
      </p:sp>
      <p:sp>
        <p:nvSpPr>
          <p:cNvPr id="21" name="Text 14"/>
          <p:cNvSpPr/>
          <p:nvPr/>
        </p:nvSpPr>
        <p:spPr>
          <a:xfrm>
            <a:off x="1600200" y="44348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Energy-waste tracking maps directly onto ZED Certification's energy pillar, and the product targets Udyam-registered MSMEs — the exact segment India's own schemes are built for.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502920" y="5184648"/>
            <a:ext cx="11185855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731520" y="5404104"/>
            <a:ext cx="640080" cy="640080"/>
          </a:xfrm>
          <a:prstGeom prst="roundRect">
            <a:avLst>
              <a:gd name="adj" fmla="val 21429"/>
            </a:avLst>
          </a:prstGeom>
          <a:solidFill>
            <a:srgbClr val="0B1F3A"/>
          </a:solidFill>
          <a:ln/>
        </p:spPr>
      </p:sp>
      <p:pic>
        <p:nvPicPr>
          <p:cNvPr id="24" name="Image 5" descr="icons/bolt_tea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6968" y="5559552"/>
            <a:ext cx="329184" cy="32918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600200" y="53035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builds, zero demo-day risk</a:t>
            </a:r>
            <a:endParaRPr lang="en-US" sz="1450" dirty="0"/>
          </a:p>
        </p:txBody>
      </p:sp>
      <p:sp>
        <p:nvSpPr>
          <p:cNvPr id="26" name="Text 18"/>
          <p:cNvSpPr/>
          <p:nvPr/>
        </p:nvSpPr>
        <p:spPr>
          <a:xfrm>
            <a:off x="1600200" y="5660136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offline dashboard for the live pitch (nothing to crash on stage), plus a real FastAPI + async telemetry backend for the code walkthrough — judges see a flawless demo backed by real code.</a:t>
            </a:r>
            <a:endParaRPr lang="en-US" sz="1100" dirty="0"/>
          </a:p>
        </p:txBody>
      </p:sp>
      <p:sp>
        <p:nvSpPr>
          <p:cNvPr id="27" name="Text 1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COMPETITORS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platforms exist. MSMEs can't afford them.</a:t>
            </a:r>
            <a:endParaRPr lang="en-US" sz="3200" dirty="0"/>
          </a:p>
        </p:txBody>
      </p:sp>
      <p:sp>
        <p:nvSpPr>
          <p:cNvPr id="7" name="Text 3"/>
          <p:cNvSpPr/>
          <p:nvPr/>
        </p:nvSpPr>
        <p:spPr>
          <a:xfrm>
            <a:off x="2423160" y="1600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5074920" y="1600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7635240" y="16002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model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9646920" y="16002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cost / yr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02920" y="1965960"/>
            <a:ext cx="11185855" cy="0"/>
          </a:xfrm>
          <a:prstGeom prst="line">
            <a:avLst/>
          </a:prstGeom>
          <a:noFill/>
          <a:ln w="12700">
            <a:solidFill>
              <a:srgbClr val="D5DEE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205740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Siemens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Senseye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423160" y="205740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Siemens-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plants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074920" y="205740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TIA /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MindSphere sensors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7635240" y="205740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Black-box ML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9646920" y="205740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$36,000+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502920" y="283464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Augury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2423160" y="283464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enterprise,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rotating equipment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74920" y="2834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sensors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635240" y="283464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Managed, opaque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9646920" y="28346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$12,000–$40,000+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502920" y="361188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 Digital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(Predix)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423160" y="361188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oil-and-gas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5074920" y="361188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Historian /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SCADA integration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7635240" y="361188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Complex, custom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9646920" y="361188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enterprise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11480" y="4334256"/>
            <a:ext cx="11368735" cy="822960"/>
          </a:xfrm>
          <a:prstGeom prst="roundRect">
            <a:avLst>
              <a:gd name="adj" fmla="val 6667"/>
            </a:avLst>
          </a:prstGeom>
          <a:solidFill>
            <a:srgbClr val="E7FBF5"/>
          </a:solidFill>
          <a:ln w="15875">
            <a:solidFill>
              <a:srgbClr val="00D9A3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94360" y="43891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</a:t>
            </a:r>
            <a:endParaRPr lang="en-US" sz="1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2423160" y="43891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MSME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050" dirty="0"/>
          </a:p>
        </p:txBody>
      </p:sp>
      <p:sp>
        <p:nvSpPr>
          <p:cNvPr id="30" name="Text 26"/>
          <p:cNvSpPr/>
          <p:nvPr/>
        </p:nvSpPr>
        <p:spPr>
          <a:xfrm>
            <a:off x="5074920" y="438912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Sensor-agnostic —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→ real, no rebuild</a:t>
            </a:r>
            <a:endParaRPr lang="en-US" sz="1050" dirty="0"/>
          </a:p>
        </p:txBody>
      </p:sp>
      <p:sp>
        <p:nvSpPr>
          <p:cNvPr id="31" name="Text 27"/>
          <p:cNvSpPr/>
          <p:nvPr/>
        </p:nvSpPr>
        <p:spPr>
          <a:xfrm>
            <a:off x="7635240" y="4389120"/>
            <a:ext cx="1783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(Isolation Forest)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646920" y="438912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to start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(open-source stack)</a:t>
            </a:r>
            <a:endParaRPr lang="en-US" sz="1050" dirty="0"/>
          </a:p>
        </p:txBody>
      </p:sp>
      <p:sp>
        <p:nvSpPr>
          <p:cNvPr id="33" name="Text 29"/>
          <p:cNvSpPr/>
          <p:nvPr/>
        </p:nvSpPr>
        <p:spPr>
          <a:xfrm>
            <a:off x="502920" y="530352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 on feasibility:  </a:t>
            </a:r>
            <a:r>
              <a:rPr lang="en-US" sz="10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component (React, FastAPI, scikit-learn) is a mature, documented library — low technical risk, 8-hour build window. Cold-start risk (no historical data) is mitigated with a rolling z-score fallback alongside Isolation Forest, and the demo's synthetic anomaly injection proves the pipeline end-to-end.</a:t>
            </a:r>
            <a:endParaRPr lang="en-US" sz="1050" dirty="0"/>
          </a:p>
        </p:txBody>
      </p:sp>
      <p:sp>
        <p:nvSpPr>
          <p:cNvPr id="34" name="Text 3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MARKET OPPORTUNITY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$4B market that today's players can't reach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502920" y="1508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7724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40–60%</a:t>
            </a:r>
            <a:endParaRPr lang="en-US" sz="3400" dirty="0"/>
          </a:p>
        </p:txBody>
      </p:sp>
      <p:sp>
        <p:nvSpPr>
          <p:cNvPr id="9" name="Text 5"/>
          <p:cNvSpPr/>
          <p:nvPr/>
        </p:nvSpPr>
        <p:spPr>
          <a:xfrm>
            <a:off x="77724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in unplanned downtime with predictive maintenance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4206240" y="1508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8056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16.5M+</a:t>
            </a:r>
            <a:endParaRPr lang="en-US" sz="3400" dirty="0"/>
          </a:p>
        </p:txBody>
      </p:sp>
      <p:sp>
        <p:nvSpPr>
          <p:cNvPr id="12" name="Text 8"/>
          <p:cNvSpPr/>
          <p:nvPr/>
        </p:nvSpPr>
        <p:spPr>
          <a:xfrm>
            <a:off x="448056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MSMEs in India — our addressable market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7909560" y="1508760"/>
            <a:ext cx="3520440" cy="1508760"/>
          </a:xfrm>
          <a:prstGeom prst="roundRect">
            <a:avLst>
              <a:gd name="adj" fmla="val 5455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8183880" y="1691640"/>
            <a:ext cx="3017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30.8%</a:t>
            </a:r>
            <a:endParaRPr lang="en-US" sz="3400" dirty="0"/>
          </a:p>
        </p:txBody>
      </p:sp>
      <p:sp>
        <p:nvSpPr>
          <p:cNvPr id="15" name="Text 11"/>
          <p:cNvSpPr/>
          <p:nvPr/>
        </p:nvSpPr>
        <p:spPr>
          <a:xfrm>
            <a:off x="8183880" y="239572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India's predictive maintenance market, 2026–32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02920" y="3246120"/>
            <a:ext cx="6400800" cy="2880360"/>
          </a:xfrm>
          <a:prstGeom prst="roundRect">
            <a:avLst>
              <a:gd name="adj" fmla="val 2540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777240" y="34015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Predictive Maintenance Market (USD, Millions)</a:t>
            </a:r>
            <a:endParaRPr lang="en-US" sz="11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777240" y="3794760"/>
          <a:ext cx="58521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9" name="Text 14"/>
          <p:cNvSpPr/>
          <p:nvPr/>
        </p:nvSpPr>
        <p:spPr>
          <a:xfrm>
            <a:off x="777240" y="5897880"/>
            <a:ext cx="5852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E87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P&amp;S Intelligence, India Predictive Maintenance Market Report (30.8% CAGR, 2026–32)</a:t>
            </a:r>
            <a:endParaRPr lang="en-US" sz="750" dirty="0"/>
          </a:p>
        </p:txBody>
      </p:sp>
      <p:sp>
        <p:nvSpPr>
          <p:cNvPr id="20" name="Shape 15"/>
          <p:cNvSpPr/>
          <p:nvPr/>
        </p:nvSpPr>
        <p:spPr>
          <a:xfrm>
            <a:off x="7223760" y="3246120"/>
            <a:ext cx="4480560" cy="2880360"/>
          </a:xfrm>
          <a:prstGeom prst="roundRect">
            <a:avLst>
              <a:gd name="adj" fmla="val 2540"/>
            </a:avLst>
          </a:prstGeom>
          <a:solidFill>
            <a:srgbClr val="132A46"/>
          </a:solidFill>
          <a:ln w="12700">
            <a:solidFill>
              <a:srgbClr val="2A4874"/>
            </a:solidFill>
            <a:prstDash val="solid"/>
          </a:ln>
        </p:spPr>
      </p:sp>
      <p:pic>
        <p:nvPicPr>
          <p:cNvPr id="21" name="Image 2" descr="icons/factor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0" y="3520440"/>
            <a:ext cx="402336" cy="4023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046720" y="3538728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already leads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498080" y="4023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holds the largest single share (35%) of India's predictive maintenance market in 2025 — and MSMEs, priced out of Siemens- and GE-class tools, are almost entirely unserved.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7498080" y="4983480"/>
            <a:ext cx="3931920" cy="0"/>
          </a:xfrm>
          <a:prstGeom prst="line">
            <a:avLst/>
          </a:prstGeom>
          <a:noFill/>
          <a:ln w="12700">
            <a:solidFill>
              <a:srgbClr val="2A487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498080" y="51663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codebase powers both n-InC's Deeptech Bharat Hackathon and Build With Bharat 2026 — built once, pitched twice, pilot-ready for a real factory.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FA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s/codeverse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9975" y="256032"/>
            <a:ext cx="896112" cy="470916"/>
          </a:xfrm>
          <a:prstGeom prst="rect">
            <a:avLst/>
          </a:prstGeom>
        </p:spPr>
      </p:pic>
      <p:pic>
        <p:nvPicPr>
          <p:cNvPr id="3" name="Image 1" descr="logos/insights_ic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7255" y="274320"/>
            <a:ext cx="310896" cy="31089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59007" y="274320"/>
            <a:ext cx="960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
</a:t>
            </a:r>
            <a:r>
              <a:rPr lang="en-US" sz="650" i="1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Less. Solve More.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0A8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TEAM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02920" y="658368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find everything</a:t>
            </a:r>
            <a:endParaRPr lang="en-US" sz="3200" dirty="0"/>
          </a:p>
        </p:txBody>
      </p:sp>
      <p:sp>
        <p:nvSpPr>
          <p:cNvPr id="7" name="Shape 3"/>
          <p:cNvSpPr/>
          <p:nvPr/>
        </p:nvSpPr>
        <p:spPr>
          <a:xfrm>
            <a:off x="502920" y="146304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</p:sp>
      <p:sp>
        <p:nvSpPr>
          <p:cNvPr id="8" name="Shape 4"/>
          <p:cNvSpPr/>
          <p:nvPr/>
        </p:nvSpPr>
        <p:spPr>
          <a:xfrm>
            <a:off x="731520" y="1664208"/>
            <a:ext cx="457200" cy="4572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9" name="Image 2" descr="icons/github_te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9536" y="1792224"/>
            <a:ext cx="219456" cy="21945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5880" y="1572768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1325880" y="188366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github.com/team-gamma/predictiq  [update before submission]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02920" y="2487168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0B1F3A"/>
          </a:solidFill>
          <a:ln/>
        </p:spPr>
      </p:sp>
      <p:sp>
        <p:nvSpPr>
          <p:cNvPr id="13" name="Shape 8"/>
          <p:cNvSpPr/>
          <p:nvPr/>
        </p:nvSpPr>
        <p:spPr>
          <a:xfrm>
            <a:off x="731520" y="2688336"/>
            <a:ext cx="457200" cy="457200"/>
          </a:xfrm>
          <a:prstGeom prst="ellipse">
            <a:avLst/>
          </a:prstGeom>
          <a:solidFill>
            <a:srgbClr val="132A46"/>
          </a:solidFill>
          <a:ln/>
        </p:spPr>
      </p:sp>
      <p:pic>
        <p:nvPicPr>
          <p:cNvPr id="14" name="Image 3" descr="icons/play_tea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536" y="2816352"/>
            <a:ext cx="219456" cy="219456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25880" y="2596896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325880" y="2907792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predictiq.vercel.app  [update before submission]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502920" y="36118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050" dirty="0"/>
          </a:p>
        </p:txBody>
      </p:sp>
      <p:sp>
        <p:nvSpPr>
          <p:cNvPr id="18" name="Shape 12"/>
          <p:cNvSpPr/>
          <p:nvPr/>
        </p:nvSpPr>
        <p:spPr>
          <a:xfrm>
            <a:off x="530352" y="3995928"/>
            <a:ext cx="54864" cy="548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9" name="Text 13"/>
          <p:cNvSpPr/>
          <p:nvPr/>
        </p:nvSpPr>
        <p:spPr>
          <a:xfrm>
            <a:off x="713232" y="39136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 / Sapio Research — “The Value of Reliability” global downtime survey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30352" y="4361688"/>
            <a:ext cx="54864" cy="548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1" name="Text 15"/>
          <p:cNvSpPr/>
          <p:nvPr/>
        </p:nvSpPr>
        <p:spPr>
          <a:xfrm>
            <a:off x="713232" y="427939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P&amp;S Intelligence — India Predictive Maintenance Market Report, 2026–2032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530352" y="4727448"/>
            <a:ext cx="54864" cy="548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3" name="Text 17"/>
          <p:cNvSpPr/>
          <p:nvPr/>
        </p:nvSpPr>
        <p:spPr>
          <a:xfrm>
            <a:off x="713232" y="464515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IBEF — MSME Industry Report, Feb 2026 (Udyam registration data)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530352" y="5093208"/>
            <a:ext cx="54864" cy="54864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5" name="Text 19"/>
          <p:cNvSpPr/>
          <p:nvPr/>
        </p:nvSpPr>
        <p:spPr>
          <a:xfrm>
            <a:off x="713232" y="501091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 — Isolation Forest anomaly detection</a:t>
            </a:r>
            <a:endParaRPr lang="en-US" sz="950" dirty="0"/>
          </a:p>
        </p:txBody>
      </p:sp>
      <p:sp>
        <p:nvSpPr>
          <p:cNvPr id="26" name="Shape 20"/>
          <p:cNvSpPr/>
          <p:nvPr/>
        </p:nvSpPr>
        <p:spPr>
          <a:xfrm>
            <a:off x="502920" y="5440680"/>
            <a:ext cx="5349240" cy="685800"/>
          </a:xfrm>
          <a:prstGeom prst="roundRect">
            <a:avLst>
              <a:gd name="adj" fmla="val 10667"/>
            </a:avLst>
          </a:prstGeom>
          <a:solidFill>
            <a:srgbClr val="FFF6E8"/>
          </a:solidFill>
          <a:ln w="12700">
            <a:solidFill>
              <a:srgbClr val="FFB020"/>
            </a:solidFill>
            <a:prstDash val="solid"/>
          </a:ln>
        </p:spPr>
      </p:sp>
      <p:pic>
        <p:nvPicPr>
          <p:cNvPr id="27" name="Image 4" descr="icons/route_amb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60527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5486400"/>
            <a:ext cx="45720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880" dirty="0">
                <a:solidFill>
                  <a:srgbClr val="6B4E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Roadmap: swap the simulator for an ESP32 + vibration / temperature / current sensor rig — same ingestion API, zero code changes. Pilot-ready with a real factory.</a:t>
            </a:r>
            <a:endParaRPr lang="en-US" sz="880" dirty="0"/>
          </a:p>
        </p:txBody>
      </p:sp>
      <p:sp>
        <p:nvSpPr>
          <p:cNvPr id="29" name="Text 22"/>
          <p:cNvSpPr/>
          <p:nvPr/>
        </p:nvSpPr>
        <p:spPr>
          <a:xfrm>
            <a:off x="6263640" y="1463040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GAMMA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263640" y="1783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464808" y="198424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2" name="Text 25"/>
          <p:cNvSpPr/>
          <p:nvPr/>
        </p:nvSpPr>
        <p:spPr>
          <a:xfrm>
            <a:off x="6464808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086600" y="203911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Priyanshi Choudhary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961120" y="178308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9162288" y="198424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6" name="Text 29"/>
          <p:cNvSpPr/>
          <p:nvPr/>
        </p:nvSpPr>
        <p:spPr>
          <a:xfrm>
            <a:off x="9162288" y="19842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9784080" y="203911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Raina Goel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6263640" y="32004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6464808" y="340156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0" name="Text 33"/>
          <p:cNvSpPr/>
          <p:nvPr/>
        </p:nvSpPr>
        <p:spPr>
          <a:xfrm>
            <a:off x="6464808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KC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7086600" y="34564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Kunal Chauhan</a:t>
            </a:r>
            <a:endParaRPr lang="en-US" sz="1100" dirty="0"/>
          </a:p>
        </p:txBody>
      </p:sp>
      <p:sp>
        <p:nvSpPr>
          <p:cNvPr id="42" name="Shape 35"/>
          <p:cNvSpPr/>
          <p:nvPr/>
        </p:nvSpPr>
        <p:spPr>
          <a:xfrm>
            <a:off x="8961120" y="3200400"/>
            <a:ext cx="25146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3EAF2"/>
            </a:solidFill>
            <a:prstDash val="solid"/>
          </a:ln>
          <a:effectLst>
            <a:outerShdw blurRad="63500" dist="25400" dir="5400000" algn="bl" rotWithShape="0">
              <a:srgbClr val="9BB0C4">
                <a:alpha val="20000"/>
              </a:srgbClr>
            </a:outerShdw>
          </a:effectLst>
        </p:spPr>
      </p:sp>
      <p:sp>
        <p:nvSpPr>
          <p:cNvPr id="43" name="Shape 36"/>
          <p:cNvSpPr/>
          <p:nvPr/>
        </p:nvSpPr>
        <p:spPr>
          <a:xfrm>
            <a:off x="9162288" y="3401568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44" name="Text 37"/>
          <p:cNvSpPr/>
          <p:nvPr/>
        </p:nvSpPr>
        <p:spPr>
          <a:xfrm>
            <a:off x="9162288" y="34015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KT</a:t>
            </a:r>
            <a:endParaRPr lang="en-US" sz="1400" dirty="0"/>
          </a:p>
        </p:txBody>
      </p:sp>
      <p:sp>
        <p:nvSpPr>
          <p:cNvPr id="45" name="Text 38"/>
          <p:cNvSpPr/>
          <p:nvPr/>
        </p:nvSpPr>
        <p:spPr>
          <a:xfrm>
            <a:off x="9784080" y="3456432"/>
            <a:ext cx="1600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Kartik Tyagi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6263640" y="4709160"/>
            <a:ext cx="5394960" cy="1417320"/>
          </a:xfrm>
          <a:prstGeom prst="roundRect">
            <a:avLst>
              <a:gd name="adj" fmla="val 5161"/>
            </a:avLst>
          </a:prstGeom>
          <a:solidFill>
            <a:srgbClr val="0B1F3A"/>
          </a:solidFill>
          <a:ln/>
        </p:spPr>
      </p:sp>
      <p:pic>
        <p:nvPicPr>
          <p:cNvPr id="47" name="Image 5" descr="icons/handshake_tea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0" y="4919472"/>
            <a:ext cx="365760" cy="365760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6995160" y="4892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49" name="Text 41"/>
          <p:cNvSpPr/>
          <p:nvPr/>
        </p:nvSpPr>
        <p:spPr>
          <a:xfrm>
            <a:off x="6492240" y="53492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AFC2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Build With भारत 2026 by Team Gamma. Software today, factory-floor-ready tomorrow.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भारत  •  Team Gamma  •  PredictIQ</a:t>
            </a:r>
            <a:endParaRPr lang="en-US" sz="900" dirty="0"/>
          </a:p>
        </p:txBody>
      </p:sp>
      <p:sp>
        <p:nvSpPr>
          <p:cNvPr id="51" name="Text 43"/>
          <p:cNvSpPr/>
          <p:nvPr/>
        </p:nvSpPr>
        <p:spPr>
          <a:xfrm>
            <a:off x="11002975" y="6473952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A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1711</Words>
  <Application>Microsoft Office PowerPoint</Application>
  <PresentationFormat>Widescreen</PresentationFormat>
  <Paragraphs>226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priyanshi choudhary</cp:lastModifiedBy>
  <cp:revision>2</cp:revision>
  <dcterms:created xsi:type="dcterms:W3CDTF">2026-07-22T09:22:41Z</dcterms:created>
  <dcterms:modified xsi:type="dcterms:W3CDTF">2026-07-22T17:10:16Z</dcterms:modified>
</cp:coreProperties>
</file>