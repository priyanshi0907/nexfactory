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D9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size ($M)</c:v>
                </c:pt>
              </c:strCache>
            </c:strRef>
          </c:tx>
          <c:spPr>
            <a:solidFill>
              <a:srgbClr val="00D9A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2025</c:v>
                </c:pt>
                <c:pt idx="1">
                  <c:v>2027</c:v>
                </c:pt>
                <c:pt idx="2">
                  <c:v>2029</c:v>
                </c:pt>
                <c:pt idx="3">
                  <c:v>2032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614</c:v>
                </c:pt>
                <c:pt idx="1">
                  <c:v>1090</c:v>
                </c:pt>
                <c:pt idx="2">
                  <c:v>2000</c:v>
                </c:pt>
                <c:pt idx="3">
                  <c:v>4015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109-469E-8390-98FA5297842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FC2D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46752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slide. Update College name before submission. Team Gamma is competing with the same PredictIQ build for both n-InC's Deeptech Bharat Hackathon and Build With Bharat 2026 — framing differs by pitch, not by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script: 1) Open dashboard, all machines green. 2) Trigger the simulator's injected anomaly live — watch Line C spike to red. 3) Show the AI alert explaining why (vibration 3x baseline). 4) Show the ROI page converting the alert into rupees saved. 5) Close with: 'Real sensors plug into the same ingestion API — this is a hardware-agnostic platform, ready to pilot with a real factory.'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chart" Target="../charts/char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645920"/>
            <a:ext cx="5029200" cy="5029200"/>
          </a:xfrm>
          <a:prstGeom prst="ellipse">
            <a:avLst/>
          </a:prstGeom>
          <a:solidFill>
            <a:srgbClr val="1B3358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822960"/>
            <a:ext cx="3108960" cy="3108960"/>
          </a:xfrm>
          <a:prstGeom prst="ellipse">
            <a:avLst/>
          </a:prstGeom>
          <a:solidFill>
            <a:srgbClr val="132A46"/>
          </a:solidFill>
          <a:ln/>
        </p:spPr>
      </p:sp>
      <p:sp>
        <p:nvSpPr>
          <p:cNvPr id="4" name="Shape 2"/>
          <p:cNvSpPr/>
          <p:nvPr/>
        </p:nvSpPr>
        <p:spPr>
          <a:xfrm>
            <a:off x="-2011680" y="4754880"/>
            <a:ext cx="4114800" cy="4114800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5" name="Image 0" descr="logos/codevers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11480"/>
            <a:ext cx="1417320" cy="745236"/>
          </a:xfrm>
          <a:prstGeom prst="rect">
            <a:avLst/>
          </a:prstGeom>
        </p:spPr>
      </p:pic>
      <p:pic>
        <p:nvPicPr>
          <p:cNvPr id="6" name="Image 1" descr="logos/insight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00055" y="457200"/>
            <a:ext cx="384048" cy="3840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957255" y="43891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
</a:t>
            </a:r>
            <a:r>
              <a:rPr lang="en-US" sz="800" i="1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Less. Solve More.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502920" y="16916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भारत  —  NATIONAL LEVEL HACKATHON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57200" y="201168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6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NexFactory</a:t>
            </a: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 AI</a:t>
            </a:r>
            <a:endParaRPr lang="en-US" sz="7600" dirty="0"/>
          </a:p>
        </p:txBody>
      </p:sp>
      <p:sp>
        <p:nvSpPr>
          <p:cNvPr id="10" name="Text 6"/>
          <p:cNvSpPr/>
          <p:nvPr/>
        </p:nvSpPr>
        <p:spPr>
          <a:xfrm>
            <a:off x="521208" y="32461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that predicts machine failure — before it happens.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521208" y="3931920"/>
            <a:ext cx="4846320" cy="0"/>
          </a:xfrm>
          <a:prstGeom prst="line">
            <a:avLst/>
          </a:prstGeom>
          <a:noFill/>
          <a:ln w="25400">
            <a:solidFill>
              <a:srgbClr val="00D9A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21208" y="42062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2514600" y="4206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521208" y="46268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2514600" y="462686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AI/ML, IoT, Smart Sensor &amp; Industrial Automation — Predictive Maintenance for MSME Manufacturing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521208" y="5047488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514600" y="504748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Priyanshi Choudhary  •  Raina Goel  •  Kunal Chauhan  •  Kartik Tyagi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521208" y="5468112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COLLEGE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2514600" y="546811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Jagannath University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codevers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9975" y="256032"/>
            <a:ext cx="896112" cy="470916"/>
          </a:xfrm>
          <a:prstGeom prst="rect">
            <a:avLst/>
          </a:prstGeom>
        </p:spPr>
      </p:pic>
      <p:pic>
        <p:nvPicPr>
          <p:cNvPr id="3" name="Image 1" descr="logos/insight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274320"/>
            <a:ext cx="310896" cy="31089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59007" y="274320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
</a:t>
            </a:r>
            <a:r>
              <a:rPr lang="en-US" sz="6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Less. Solve More.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38404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02920" y="658368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India's factories run on guesswork, not data</a:t>
            </a:r>
            <a:endParaRPr lang="en-US" sz="3200" dirty="0"/>
          </a:p>
        </p:txBody>
      </p:sp>
      <p:sp>
        <p:nvSpPr>
          <p:cNvPr id="7" name="Text 3"/>
          <p:cNvSpPr/>
          <p:nvPr/>
        </p:nvSpPr>
        <p:spPr>
          <a:xfrm>
            <a:off x="502920" y="1417320"/>
            <a:ext cx="64922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Indian MSME manufacturers still practice reactive maintenance — machines run until they break, then get fixed. There's no early warning, no visibility into machine health, and no way to see energy being wasted by a degrading motor. Enterprise platforms exist, but they're built — and priced — for large factories, not MSMEs.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502920" y="2788920"/>
            <a:ext cx="310896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  <a:effectLst>
            <a:outerShdw blurRad="76200" dist="25400" dir="5400000" algn="bl" rotWithShape="0">
              <a:srgbClr val="9BB0C4">
                <a:alpha val="2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704088" y="2971800"/>
            <a:ext cx="457200" cy="457200"/>
          </a:xfrm>
          <a:prstGeom prst="ellipse">
            <a:avLst/>
          </a:prstGeom>
          <a:solidFill>
            <a:srgbClr val="FBEAE3"/>
          </a:solidFill>
          <a:ln/>
        </p:spPr>
      </p:sp>
      <p:pic>
        <p:nvPicPr>
          <p:cNvPr id="10" name="Image 2" descr="icons/alert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308152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07592" y="2953512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early warning</a:t>
            </a:r>
            <a:endParaRPr lang="en-US" sz="1250" dirty="0"/>
          </a:p>
        </p:txBody>
      </p:sp>
      <p:sp>
        <p:nvSpPr>
          <p:cNvPr id="12" name="Text 7"/>
          <p:cNvSpPr/>
          <p:nvPr/>
        </p:nvSpPr>
        <p:spPr>
          <a:xfrm>
            <a:off x="704088" y="356616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are discovered only after the machine has already stopped.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3840480" y="2788920"/>
            <a:ext cx="310896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  <a:effectLst>
            <a:outerShdw blurRad="76200" dist="25400" dir="5400000" algn="bl" rotWithShape="0">
              <a:srgbClr val="9BB0C4">
                <a:alpha val="25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041648" y="2971800"/>
            <a:ext cx="457200" cy="457200"/>
          </a:xfrm>
          <a:prstGeom prst="ellipse">
            <a:avLst/>
          </a:prstGeom>
          <a:solidFill>
            <a:srgbClr val="FBEAE3"/>
          </a:solidFill>
          <a:ln/>
        </p:spPr>
      </p:sp>
      <p:pic>
        <p:nvPicPr>
          <p:cNvPr id="15" name="Image 3" descr="icons/eye_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51376" y="3081528"/>
            <a:ext cx="237744" cy="23774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645152" y="2953512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real-time visibility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4041648" y="356616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view of vibration, temperature, current draw, or RPM on the floor.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502920" y="4480560"/>
            <a:ext cx="310896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  <a:effectLst>
            <a:outerShdw blurRad="76200" dist="25400" dir="5400000" algn="bl" rotWithShape="0">
              <a:srgbClr val="9BB0C4">
                <a:alpha val="2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704088" y="4663440"/>
            <a:ext cx="457200" cy="457200"/>
          </a:xfrm>
          <a:prstGeom prst="ellipse">
            <a:avLst/>
          </a:prstGeom>
          <a:solidFill>
            <a:srgbClr val="FBEAE3"/>
          </a:solidFill>
          <a:ln/>
        </p:spPr>
      </p:sp>
      <p:pic>
        <p:nvPicPr>
          <p:cNvPr id="20" name="Image 4" descr="icons/bolt_r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6" y="477316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07592" y="4645152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energy waste</a:t>
            </a:r>
            <a:endParaRPr lang="en-US" sz="1250" dirty="0"/>
          </a:p>
        </p:txBody>
      </p:sp>
      <p:sp>
        <p:nvSpPr>
          <p:cNvPr id="22" name="Text 15"/>
          <p:cNvSpPr/>
          <p:nvPr/>
        </p:nvSpPr>
        <p:spPr>
          <a:xfrm>
            <a:off x="704088" y="525780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Degrading motors draw excess power for weeks before anyone notices.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3840480" y="4480560"/>
            <a:ext cx="3108960" cy="15087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  <a:effectLst>
            <a:outerShdw blurRad="76200" dist="25400" dir="5400000" algn="bl" rotWithShape="0">
              <a:srgbClr val="9BB0C4">
                <a:alpha val="25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4041648" y="4663440"/>
            <a:ext cx="457200" cy="457200"/>
          </a:xfrm>
          <a:prstGeom prst="ellipse">
            <a:avLst/>
          </a:prstGeom>
          <a:solidFill>
            <a:srgbClr val="FBEAE3"/>
          </a:solidFill>
          <a:ln/>
        </p:spPr>
      </p:sp>
      <p:pic>
        <p:nvPicPr>
          <p:cNvPr id="25" name="Image 5" descr="icons/rupee_r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1376" y="4773168"/>
            <a:ext cx="237744" cy="23774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4645152" y="4645152"/>
            <a:ext cx="2148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tools, enterprise prices</a:t>
            </a:r>
            <a:endParaRPr lang="en-US" sz="1250" dirty="0"/>
          </a:p>
        </p:txBody>
      </p:sp>
      <p:sp>
        <p:nvSpPr>
          <p:cNvPr id="27" name="Text 19"/>
          <p:cNvSpPr/>
          <p:nvPr/>
        </p:nvSpPr>
        <p:spPr>
          <a:xfrm>
            <a:off x="4041648" y="5257800"/>
            <a:ext cx="2743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Siemens Senseye / GE Predix-class platforms are built for large plants, not MSMEs.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7269480" y="1417320"/>
            <a:ext cx="4434840" cy="4937760"/>
          </a:xfrm>
          <a:prstGeom prst="roundRect">
            <a:avLst>
              <a:gd name="adj" fmla="val 2062"/>
            </a:avLst>
          </a:prstGeom>
          <a:solidFill>
            <a:srgbClr val="0B1F3A"/>
          </a:solidFill>
          <a:ln/>
        </p:spPr>
      </p:sp>
      <p:sp>
        <p:nvSpPr>
          <p:cNvPr id="29" name="Text 21"/>
          <p:cNvSpPr/>
          <p:nvPr/>
        </p:nvSpPr>
        <p:spPr>
          <a:xfrm>
            <a:off x="7589520" y="1645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INDIA, RIGHT NOW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7589520" y="2057400"/>
            <a:ext cx="3794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88%</a:t>
            </a:r>
            <a:endParaRPr lang="en-US" sz="2900" dirty="0"/>
          </a:p>
        </p:txBody>
      </p:sp>
      <p:sp>
        <p:nvSpPr>
          <p:cNvPr id="31" name="Text 23"/>
          <p:cNvSpPr/>
          <p:nvPr/>
        </p:nvSpPr>
        <p:spPr>
          <a:xfrm>
            <a:off x="7589520" y="2478024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dirty="0">
                <a:solidFill>
                  <a:srgbClr val="AFC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Indian industrial businesses suffer unplanned outages at least once a month</a:t>
            </a:r>
            <a:endParaRPr lang="en-US" sz="970" dirty="0"/>
          </a:p>
        </p:txBody>
      </p:sp>
      <p:sp>
        <p:nvSpPr>
          <p:cNvPr id="32" name="Text 24"/>
          <p:cNvSpPr/>
          <p:nvPr/>
        </p:nvSpPr>
        <p:spPr>
          <a:xfrm>
            <a:off x="7589520" y="3017520"/>
            <a:ext cx="3794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₹7M</a:t>
            </a:r>
            <a:endParaRPr lang="en-US" sz="2900" dirty="0"/>
          </a:p>
        </p:txBody>
      </p:sp>
      <p:sp>
        <p:nvSpPr>
          <p:cNvPr id="33" name="Text 25"/>
          <p:cNvSpPr/>
          <p:nvPr/>
        </p:nvSpPr>
        <p:spPr>
          <a:xfrm>
            <a:off x="7589520" y="3438144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dirty="0">
                <a:solidFill>
                  <a:srgbClr val="AFC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for every single hour of unplanned downtime, on average</a:t>
            </a:r>
            <a:endParaRPr lang="en-US" sz="970" dirty="0"/>
          </a:p>
        </p:txBody>
      </p:sp>
      <p:sp>
        <p:nvSpPr>
          <p:cNvPr id="34" name="Text 26"/>
          <p:cNvSpPr/>
          <p:nvPr/>
        </p:nvSpPr>
        <p:spPr>
          <a:xfrm>
            <a:off x="7589520" y="3977640"/>
            <a:ext cx="3794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16.5M+</a:t>
            </a:r>
            <a:endParaRPr lang="en-US" sz="2900" dirty="0"/>
          </a:p>
        </p:txBody>
      </p:sp>
      <p:sp>
        <p:nvSpPr>
          <p:cNvPr id="35" name="Text 27"/>
          <p:cNvSpPr/>
          <p:nvPr/>
        </p:nvSpPr>
        <p:spPr>
          <a:xfrm>
            <a:off x="7589520" y="4398264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dirty="0">
                <a:solidFill>
                  <a:srgbClr val="AFC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MSMEs in India — almost none have predictive tooling</a:t>
            </a:r>
            <a:endParaRPr lang="en-US" sz="970" dirty="0"/>
          </a:p>
        </p:txBody>
      </p:sp>
      <p:sp>
        <p:nvSpPr>
          <p:cNvPr id="36" name="Text 28"/>
          <p:cNvSpPr/>
          <p:nvPr/>
        </p:nvSpPr>
        <p:spPr>
          <a:xfrm>
            <a:off x="7589520" y="4937760"/>
            <a:ext cx="3794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50%+</a:t>
            </a:r>
            <a:endParaRPr lang="en-US" sz="2900" dirty="0"/>
          </a:p>
        </p:txBody>
      </p:sp>
      <p:sp>
        <p:nvSpPr>
          <p:cNvPr id="37" name="Text 29"/>
          <p:cNvSpPr/>
          <p:nvPr/>
        </p:nvSpPr>
        <p:spPr>
          <a:xfrm>
            <a:off x="7589520" y="5358384"/>
            <a:ext cx="38404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70" dirty="0">
                <a:solidFill>
                  <a:srgbClr val="AFC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sudden failures achievable with real-time condition monitoring</a:t>
            </a:r>
            <a:endParaRPr lang="en-US" sz="970" dirty="0"/>
          </a:p>
        </p:txBody>
      </p:sp>
      <p:sp>
        <p:nvSpPr>
          <p:cNvPr id="38" name="Text 30"/>
          <p:cNvSpPr/>
          <p:nvPr/>
        </p:nvSpPr>
        <p:spPr>
          <a:xfrm>
            <a:off x="7589520" y="598932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" i="1" dirty="0">
                <a:solidFill>
                  <a:srgbClr val="6E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ABB / Sapio Research “Value of Reliability”; P&amp;S Intelligence India PdM Market Report</a:t>
            </a:r>
            <a:endParaRPr lang="en-US" sz="720" dirty="0"/>
          </a:p>
        </p:txBody>
      </p:sp>
      <p:sp>
        <p:nvSpPr>
          <p:cNvPr id="39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भारत  •  Team Gamma  •  PredictIQ</a:t>
            </a:r>
            <a:endParaRPr lang="en-US" sz="900" dirty="0"/>
          </a:p>
        </p:txBody>
      </p:sp>
      <p:sp>
        <p:nvSpPr>
          <p:cNvPr id="40" name="Text 32"/>
          <p:cNvSpPr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codevers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9975" y="256032"/>
            <a:ext cx="896112" cy="470916"/>
          </a:xfrm>
          <a:prstGeom prst="rect">
            <a:avLst/>
          </a:prstGeom>
        </p:spPr>
      </p:pic>
      <p:pic>
        <p:nvPicPr>
          <p:cNvPr id="3" name="Image 1" descr="logos/insight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274320"/>
            <a:ext cx="310896" cy="31089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59007" y="274320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
</a:t>
            </a:r>
            <a:r>
              <a:rPr lang="en-US" sz="6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Less. Solve More.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38404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02920" y="658368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dashboard. Four jobs. Zero guesswork.</a:t>
            </a:r>
            <a:endParaRPr lang="en-US" sz="3200" dirty="0"/>
          </a:p>
        </p:txBody>
      </p:sp>
      <p:sp>
        <p:nvSpPr>
          <p:cNvPr id="7" name="Text 3"/>
          <p:cNvSpPr/>
          <p:nvPr/>
        </p:nvSpPr>
        <p:spPr>
          <a:xfrm>
            <a:off x="502920" y="13716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PredictIQ turns raw sensor signals into a plain-English risk score and a rupee figure — so a machine operator and a factory owner see the same story.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02920" y="205740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  <a:effectLst>
            <a:outerShdw blurRad="76200" dist="25400" dir="5400000" algn="bl" rotWithShape="0">
              <a:srgbClr val="9BB0C4">
                <a:alpha val="2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822960" y="2377440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0B1F3A"/>
          </a:solidFill>
          <a:ln/>
        </p:spPr>
      </p:sp>
      <p:pic>
        <p:nvPicPr>
          <p:cNvPr id="10" name="Image 2" descr="icons/gauge_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2542032"/>
            <a:ext cx="329184" cy="32918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16636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5D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822960" y="315468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Monitoring</a:t>
            </a:r>
            <a:endParaRPr lang="en-US" sz="1550" dirty="0"/>
          </a:p>
        </p:txBody>
      </p:sp>
      <p:sp>
        <p:nvSpPr>
          <p:cNvPr id="13" name="Text 8"/>
          <p:cNvSpPr/>
          <p:nvPr/>
        </p:nvSpPr>
        <p:spPr>
          <a:xfrm>
            <a:off x="822960" y="352044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vibration, temperature, current draw and RPM per machine — refreshed continuously, not on a weekly report.</a:t>
            </a:r>
            <a:endParaRPr lang="en-US" sz="1080" dirty="0"/>
          </a:p>
        </p:txBody>
      </p:sp>
      <p:sp>
        <p:nvSpPr>
          <p:cNvPr id="14" name="Shape 9"/>
          <p:cNvSpPr/>
          <p:nvPr/>
        </p:nvSpPr>
        <p:spPr>
          <a:xfrm>
            <a:off x="6217920" y="205740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  <a:effectLst>
            <a:outerShdw blurRad="76200" dist="25400" dir="5400000" algn="bl" rotWithShape="0">
              <a:srgbClr val="9BB0C4">
                <a:alpha val="2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6537960" y="2377440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0B1F3A"/>
          </a:solidFill>
          <a:ln/>
        </p:spPr>
      </p:sp>
      <p:pic>
        <p:nvPicPr>
          <p:cNvPr id="16" name="Image 3" descr="icons/brain_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2552" y="2542032"/>
            <a:ext cx="329184" cy="32918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88136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5D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6537960" y="315468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Failure Prediction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6537960" y="352044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anomaly-detection model scores every machine's failure risk in real time and explains why it flagged it.</a:t>
            </a:r>
            <a:endParaRPr lang="en-US" sz="1080" dirty="0"/>
          </a:p>
        </p:txBody>
      </p:sp>
      <p:sp>
        <p:nvSpPr>
          <p:cNvPr id="20" name="Shape 14"/>
          <p:cNvSpPr/>
          <p:nvPr/>
        </p:nvSpPr>
        <p:spPr>
          <a:xfrm>
            <a:off x="502920" y="438912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  <a:effectLst>
            <a:outerShdw blurRad="76200" dist="25400" dir="5400000" algn="bl" rotWithShape="0">
              <a:srgbClr val="9BB0C4">
                <a:alpha val="2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22960" y="4709160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0B1F3A"/>
          </a:solidFill>
          <a:ln/>
        </p:spPr>
      </p:sp>
      <p:pic>
        <p:nvPicPr>
          <p:cNvPr id="22" name="Image 4" descr="icons/bolt_te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" y="4873752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166360" y="46634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5D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24" name="Text 17"/>
          <p:cNvSpPr/>
          <p:nvPr/>
        </p:nvSpPr>
        <p:spPr>
          <a:xfrm>
            <a:off x="822960" y="548640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Insights</a:t>
            </a:r>
            <a:endParaRPr lang="en-US" sz="1550" dirty="0"/>
          </a:p>
        </p:txBody>
      </p:sp>
      <p:sp>
        <p:nvSpPr>
          <p:cNvPr id="25" name="Text 18"/>
          <p:cNvSpPr/>
          <p:nvPr/>
        </p:nvSpPr>
        <p:spPr>
          <a:xfrm>
            <a:off x="822960" y="585216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machines drawing abnormal power and estimates exactly how much electricity is being wasted.</a:t>
            </a:r>
            <a:endParaRPr lang="en-US" sz="1080" dirty="0"/>
          </a:p>
        </p:txBody>
      </p:sp>
      <p:sp>
        <p:nvSpPr>
          <p:cNvPr id="26" name="Shape 19"/>
          <p:cNvSpPr/>
          <p:nvPr/>
        </p:nvSpPr>
        <p:spPr>
          <a:xfrm>
            <a:off x="6217920" y="438912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  <a:effectLst>
            <a:outerShdw blurRad="76200" dist="25400" dir="5400000" algn="bl" rotWithShape="0">
              <a:srgbClr val="9BB0C4">
                <a:alpha val="2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537960" y="4709160"/>
            <a:ext cx="658368" cy="658368"/>
          </a:xfrm>
          <a:prstGeom prst="roundRect">
            <a:avLst>
              <a:gd name="adj" fmla="val 22222"/>
            </a:avLst>
          </a:prstGeom>
          <a:solidFill>
            <a:srgbClr val="0B1F3A"/>
          </a:solidFill>
          <a:ln/>
        </p:spPr>
      </p:sp>
      <p:pic>
        <p:nvPicPr>
          <p:cNvPr id="28" name="Image 5" descr="icons/rupee_te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2552" y="4873752"/>
            <a:ext cx="329184" cy="32918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10881360" y="46634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5DE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30" name="Text 22"/>
          <p:cNvSpPr/>
          <p:nvPr/>
        </p:nvSpPr>
        <p:spPr>
          <a:xfrm>
            <a:off x="6537960" y="548640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Dashboard</a:t>
            </a:r>
            <a:endParaRPr lang="en-US" sz="1550" dirty="0"/>
          </a:p>
        </p:txBody>
      </p:sp>
      <p:sp>
        <p:nvSpPr>
          <p:cNvPr id="31" name="Text 23"/>
          <p:cNvSpPr/>
          <p:nvPr/>
        </p:nvSpPr>
        <p:spPr>
          <a:xfrm>
            <a:off x="6537960" y="585216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every alert into “money saved” — so the value is obvious to a non-technical factory owner.</a:t>
            </a:r>
            <a:endParaRPr lang="en-US" sz="1080" dirty="0"/>
          </a:p>
        </p:txBody>
      </p:sp>
      <p:sp>
        <p:nvSpPr>
          <p:cNvPr id="32" name="Text 2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भारत  •  Team Gamma  •  PredictIQ</a:t>
            </a:r>
            <a:endParaRPr lang="en-US" sz="900" dirty="0"/>
          </a:p>
        </p:txBody>
      </p:sp>
      <p:sp>
        <p:nvSpPr>
          <p:cNvPr id="33" name="Text 25"/>
          <p:cNvSpPr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codevers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9975" y="256032"/>
            <a:ext cx="896112" cy="470916"/>
          </a:xfrm>
          <a:prstGeom prst="rect">
            <a:avLst/>
          </a:prstGeom>
        </p:spPr>
      </p:pic>
      <p:pic>
        <p:nvPicPr>
          <p:cNvPr id="3" name="Image 1" descr="logos/insight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274320"/>
            <a:ext cx="310896" cy="31089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59007" y="274320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
</a:t>
            </a:r>
            <a:r>
              <a:rPr lang="en-US" sz="650" i="1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Less. Solve More.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38404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02920" y="658368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 — real sensors or simulated.</a:t>
            </a:r>
            <a:endParaRPr lang="en-US" sz="3200" dirty="0"/>
          </a:p>
        </p:txBody>
      </p:sp>
      <p:sp>
        <p:nvSpPr>
          <p:cNvPr id="7" name="Shape 3"/>
          <p:cNvSpPr/>
          <p:nvPr/>
        </p:nvSpPr>
        <p:spPr>
          <a:xfrm>
            <a:off x="2377440" y="3771900"/>
            <a:ext cx="453314" cy="0"/>
          </a:xfrm>
          <a:prstGeom prst="line">
            <a:avLst/>
          </a:prstGeom>
          <a:noFill/>
          <a:ln w="22225">
            <a:solidFill>
              <a:srgbClr val="00D9A3"/>
            </a:solidFill>
            <a:prstDash val="solid"/>
            <a:tailEnd type="triangle"/>
          </a:ln>
        </p:spPr>
      </p:sp>
      <p:sp>
        <p:nvSpPr>
          <p:cNvPr id="8" name="Shape 4"/>
          <p:cNvSpPr/>
          <p:nvPr/>
        </p:nvSpPr>
        <p:spPr>
          <a:xfrm>
            <a:off x="502920" y="2788920"/>
            <a:ext cx="1874520" cy="1965960"/>
          </a:xfrm>
          <a:prstGeom prst="roundRect">
            <a:avLst>
              <a:gd name="adj" fmla="val 4878"/>
            </a:avLst>
          </a:prstGeom>
          <a:solidFill>
            <a:srgbClr val="132A46"/>
          </a:solidFill>
          <a:ln w="12700">
            <a:solidFill>
              <a:srgbClr val="2A487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147572" y="2990088"/>
            <a:ext cx="585216" cy="585216"/>
          </a:xfrm>
          <a:prstGeom prst="ellipse">
            <a:avLst/>
          </a:prstGeom>
          <a:solidFill>
            <a:srgbClr val="0B1F3A"/>
          </a:solidFill>
          <a:ln w="15875">
            <a:solidFill>
              <a:srgbClr val="00D9A3"/>
            </a:solidFill>
            <a:prstDash val="solid"/>
          </a:ln>
        </p:spPr>
      </p:sp>
      <p:pic>
        <p:nvPicPr>
          <p:cNvPr id="10" name="Image 2" descr="icons/wifi_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108960"/>
            <a:ext cx="347472" cy="34747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94360" y="368503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</a:t>
            </a:r>
            <a:endParaRPr lang="en-US" sz="1250" dirty="0"/>
          </a:p>
        </p:txBody>
      </p:sp>
      <p:sp>
        <p:nvSpPr>
          <p:cNvPr id="12" name="Text 7"/>
          <p:cNvSpPr/>
          <p:nvPr/>
        </p:nvSpPr>
        <p:spPr>
          <a:xfrm>
            <a:off x="576072" y="4014216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• Temp • Current • RPM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576072" y="4325112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for demo — IoT-ready</a:t>
            </a:r>
            <a:endParaRPr lang="en-US" sz="800" dirty="0"/>
          </a:p>
        </p:txBody>
      </p:sp>
      <p:sp>
        <p:nvSpPr>
          <p:cNvPr id="14" name="Shape 9"/>
          <p:cNvSpPr/>
          <p:nvPr/>
        </p:nvSpPr>
        <p:spPr>
          <a:xfrm>
            <a:off x="4705274" y="3771900"/>
            <a:ext cx="453314" cy="0"/>
          </a:xfrm>
          <a:prstGeom prst="line">
            <a:avLst/>
          </a:prstGeom>
          <a:noFill/>
          <a:ln w="22225">
            <a:solidFill>
              <a:srgbClr val="00D9A3"/>
            </a:solidFill>
            <a:prstDash val="solid"/>
            <a:tailEnd type="triangle"/>
          </a:ln>
        </p:spPr>
      </p:sp>
      <p:sp>
        <p:nvSpPr>
          <p:cNvPr id="15" name="Shape 10"/>
          <p:cNvSpPr/>
          <p:nvPr/>
        </p:nvSpPr>
        <p:spPr>
          <a:xfrm>
            <a:off x="2830754" y="2788920"/>
            <a:ext cx="1874520" cy="1965960"/>
          </a:xfrm>
          <a:prstGeom prst="roundRect">
            <a:avLst>
              <a:gd name="adj" fmla="val 4878"/>
            </a:avLst>
          </a:prstGeom>
          <a:solidFill>
            <a:srgbClr val="132A46"/>
          </a:solidFill>
          <a:ln w="12700">
            <a:solidFill>
              <a:srgbClr val="2A4874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3475406" y="2990088"/>
            <a:ext cx="585216" cy="585216"/>
          </a:xfrm>
          <a:prstGeom prst="ellipse">
            <a:avLst/>
          </a:prstGeom>
          <a:solidFill>
            <a:srgbClr val="0B1F3A"/>
          </a:solidFill>
          <a:ln w="15875">
            <a:solidFill>
              <a:srgbClr val="00D9A3"/>
            </a:solidFill>
            <a:prstDash val="solid"/>
          </a:ln>
        </p:spPr>
      </p:sp>
      <p:pic>
        <p:nvPicPr>
          <p:cNvPr id="17" name="Image 3" descr="icons/plug_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94278" y="3108960"/>
            <a:ext cx="347472" cy="34747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2922194" y="368503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API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2903906" y="4014216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Uvicorn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2903906" y="4325112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/ REST</a:t>
            </a:r>
            <a:endParaRPr lang="en-US" sz="800" dirty="0"/>
          </a:p>
        </p:txBody>
      </p:sp>
      <p:sp>
        <p:nvSpPr>
          <p:cNvPr id="21" name="Shape 15"/>
          <p:cNvSpPr/>
          <p:nvPr/>
        </p:nvSpPr>
        <p:spPr>
          <a:xfrm>
            <a:off x="7033108" y="3771900"/>
            <a:ext cx="453314" cy="0"/>
          </a:xfrm>
          <a:prstGeom prst="line">
            <a:avLst/>
          </a:prstGeom>
          <a:noFill/>
          <a:ln w="22225">
            <a:solidFill>
              <a:srgbClr val="00D9A3"/>
            </a:solidFill>
            <a:prstDash val="solid"/>
            <a:tailEnd type="triangle"/>
          </a:ln>
        </p:spPr>
      </p:sp>
      <p:sp>
        <p:nvSpPr>
          <p:cNvPr id="22" name="Shape 16"/>
          <p:cNvSpPr/>
          <p:nvPr/>
        </p:nvSpPr>
        <p:spPr>
          <a:xfrm>
            <a:off x="5158588" y="2788920"/>
            <a:ext cx="1874520" cy="1965960"/>
          </a:xfrm>
          <a:prstGeom prst="roundRect">
            <a:avLst>
              <a:gd name="adj" fmla="val 4878"/>
            </a:avLst>
          </a:prstGeom>
          <a:solidFill>
            <a:srgbClr val="132A46"/>
          </a:solidFill>
          <a:ln w="12700">
            <a:solidFill>
              <a:srgbClr val="2A4874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5803240" y="2990088"/>
            <a:ext cx="585216" cy="585216"/>
          </a:xfrm>
          <a:prstGeom prst="ellipse">
            <a:avLst/>
          </a:prstGeom>
          <a:solidFill>
            <a:srgbClr val="0B1F3A"/>
          </a:solidFill>
          <a:ln w="15875">
            <a:solidFill>
              <a:srgbClr val="00D9A3"/>
            </a:solidFill>
            <a:prstDash val="solid"/>
          </a:ln>
        </p:spPr>
      </p:sp>
      <p:pic>
        <p:nvPicPr>
          <p:cNvPr id="24" name="Image 4" descr="icons/database_te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2112" y="3108960"/>
            <a:ext cx="347472" cy="34747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5250028" y="368503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Store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5231740" y="4014216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sensor feed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5231740" y="4325112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reading, every alert</a:t>
            </a:r>
            <a:endParaRPr lang="en-US" sz="800" dirty="0"/>
          </a:p>
        </p:txBody>
      </p:sp>
      <p:sp>
        <p:nvSpPr>
          <p:cNvPr id="28" name="Shape 21"/>
          <p:cNvSpPr/>
          <p:nvPr/>
        </p:nvSpPr>
        <p:spPr>
          <a:xfrm>
            <a:off x="9360941" y="3771900"/>
            <a:ext cx="453314" cy="0"/>
          </a:xfrm>
          <a:prstGeom prst="line">
            <a:avLst/>
          </a:prstGeom>
          <a:noFill/>
          <a:ln w="22225">
            <a:solidFill>
              <a:srgbClr val="00D9A3"/>
            </a:solidFill>
            <a:prstDash val="solid"/>
            <a:tailEnd type="triangle"/>
          </a:ln>
        </p:spPr>
      </p:sp>
      <p:sp>
        <p:nvSpPr>
          <p:cNvPr id="29" name="Shape 22"/>
          <p:cNvSpPr/>
          <p:nvPr/>
        </p:nvSpPr>
        <p:spPr>
          <a:xfrm>
            <a:off x="7486421" y="2788920"/>
            <a:ext cx="1874520" cy="1965960"/>
          </a:xfrm>
          <a:prstGeom prst="roundRect">
            <a:avLst>
              <a:gd name="adj" fmla="val 4878"/>
            </a:avLst>
          </a:prstGeom>
          <a:solidFill>
            <a:srgbClr val="132A46"/>
          </a:solidFill>
          <a:ln w="12700">
            <a:solidFill>
              <a:srgbClr val="2A4874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131073" y="2990088"/>
            <a:ext cx="585216" cy="585216"/>
          </a:xfrm>
          <a:prstGeom prst="ellipse">
            <a:avLst/>
          </a:prstGeom>
          <a:solidFill>
            <a:srgbClr val="0B1F3A"/>
          </a:solidFill>
          <a:ln w="15875">
            <a:solidFill>
              <a:srgbClr val="00D9A3"/>
            </a:solidFill>
            <a:prstDash val="solid"/>
          </a:ln>
        </p:spPr>
      </p:sp>
      <p:pic>
        <p:nvPicPr>
          <p:cNvPr id="31" name="Image 5" descr="icons/brain_te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9945" y="3108960"/>
            <a:ext cx="347472" cy="34747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577861" y="368503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7559573" y="4014216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microservice</a:t>
            </a:r>
            <a:endParaRPr lang="en-US" sz="900" dirty="0"/>
          </a:p>
        </p:txBody>
      </p:sp>
      <p:sp>
        <p:nvSpPr>
          <p:cNvPr id="34" name="Text 26"/>
          <p:cNvSpPr/>
          <p:nvPr/>
        </p:nvSpPr>
        <p:spPr>
          <a:xfrm>
            <a:off x="7559573" y="4325112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/ z-score</a:t>
            </a:r>
            <a:endParaRPr lang="en-US" sz="800" dirty="0"/>
          </a:p>
        </p:txBody>
      </p:sp>
      <p:sp>
        <p:nvSpPr>
          <p:cNvPr id="35" name="Shape 27"/>
          <p:cNvSpPr/>
          <p:nvPr/>
        </p:nvSpPr>
        <p:spPr>
          <a:xfrm>
            <a:off x="9814255" y="2788920"/>
            <a:ext cx="1874520" cy="1965960"/>
          </a:xfrm>
          <a:prstGeom prst="roundRect">
            <a:avLst>
              <a:gd name="adj" fmla="val 4878"/>
            </a:avLst>
          </a:prstGeom>
          <a:solidFill>
            <a:srgbClr val="132A46"/>
          </a:solidFill>
          <a:ln w="12700">
            <a:solidFill>
              <a:srgbClr val="2A4874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10458907" y="2990088"/>
            <a:ext cx="585216" cy="585216"/>
          </a:xfrm>
          <a:prstGeom prst="ellipse">
            <a:avLst/>
          </a:prstGeom>
          <a:solidFill>
            <a:srgbClr val="0B1F3A"/>
          </a:solidFill>
          <a:ln w="15875">
            <a:solidFill>
              <a:srgbClr val="00D9A3"/>
            </a:solidFill>
            <a:prstDash val="solid"/>
          </a:ln>
        </p:spPr>
      </p:sp>
      <p:pic>
        <p:nvPicPr>
          <p:cNvPr id="37" name="Image 6" descr="icons/desktop_te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77779" y="3108960"/>
            <a:ext cx="347472" cy="347472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9905695" y="3685032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39" name="Text 30"/>
          <p:cNvSpPr/>
          <p:nvPr/>
        </p:nvSpPr>
        <p:spPr>
          <a:xfrm>
            <a:off x="9887407" y="4014216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Recharts</a:t>
            </a:r>
            <a:endParaRPr lang="en-US" sz="900" dirty="0"/>
          </a:p>
        </p:txBody>
      </p:sp>
      <p:sp>
        <p:nvSpPr>
          <p:cNvPr id="40" name="Text 31"/>
          <p:cNvSpPr/>
          <p:nvPr/>
        </p:nvSpPr>
        <p:spPr>
          <a:xfrm>
            <a:off x="9887407" y="4325112"/>
            <a:ext cx="17282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charts, risk, ROI</a:t>
            </a:r>
            <a:endParaRPr lang="en-US" sz="800" dirty="0"/>
          </a:p>
        </p:txBody>
      </p:sp>
      <p:sp>
        <p:nvSpPr>
          <p:cNvPr id="41" name="Shape 32"/>
          <p:cNvSpPr/>
          <p:nvPr/>
        </p:nvSpPr>
        <p:spPr>
          <a:xfrm>
            <a:off x="502920" y="5212080"/>
            <a:ext cx="11185855" cy="868680"/>
          </a:xfrm>
          <a:prstGeom prst="roundRect">
            <a:avLst>
              <a:gd name="adj" fmla="val 8421"/>
            </a:avLst>
          </a:prstGeom>
          <a:solidFill>
            <a:srgbClr val="132A46"/>
          </a:solidFill>
          <a:ln w="12700">
            <a:solidFill>
              <a:srgbClr val="2A4874"/>
            </a:solidFill>
            <a:prstDash val="solid"/>
          </a:ln>
        </p:spPr>
      </p:sp>
      <p:pic>
        <p:nvPicPr>
          <p:cNvPr id="42" name="Image 7" descr="icons/lightbulb_amb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468112"/>
            <a:ext cx="365760" cy="365760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1280160" y="5285232"/>
            <a:ext cx="10195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Hardware-agnostic by design.  </a:t>
            </a:r>
            <a:r>
              <a:rPr lang="en-US" sz="1100" dirty="0">
                <a:solidFill>
                  <a:srgbClr val="AFC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hackathon, “Sensors” is a script generating realistic readings with injected anomaly spikes. Nothing downstream knows or cares whether the data is real or simulated — swap in an ESP32 + vibration/temp/current sensor later with zero code changes.</a:t>
            </a:r>
            <a:endParaRPr lang="en-US" sz="1100" dirty="0"/>
          </a:p>
        </p:txBody>
      </p:sp>
      <p:sp>
        <p:nvSpPr>
          <p:cNvPr id="44" name="Text 3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भारत  •  Team Gamma  •  PredictIQ</a:t>
            </a:r>
            <a:endParaRPr lang="en-US" sz="900" dirty="0"/>
          </a:p>
        </p:txBody>
      </p:sp>
      <p:sp>
        <p:nvSpPr>
          <p:cNvPr id="45" name="Text 35"/>
          <p:cNvSpPr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codevers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9975" y="256032"/>
            <a:ext cx="896112" cy="470916"/>
          </a:xfrm>
          <a:prstGeom prst="rect">
            <a:avLst/>
          </a:prstGeom>
        </p:spPr>
      </p:pic>
      <p:pic>
        <p:nvPicPr>
          <p:cNvPr id="3" name="Image 1" descr="logos/insight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274320"/>
            <a:ext cx="310896" cy="31089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59007" y="274320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
</a:t>
            </a:r>
            <a:r>
              <a:rPr lang="en-US" sz="6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Less. Solve More.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38404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02920" y="658368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Boring, proven technology — on purpose</a:t>
            </a:r>
            <a:endParaRPr lang="en-US" sz="3200" dirty="0"/>
          </a:p>
        </p:txBody>
      </p:sp>
      <p:sp>
        <p:nvSpPr>
          <p:cNvPr id="7" name="Text 3"/>
          <p:cNvSpPr/>
          <p:nvPr/>
        </p:nvSpPr>
        <p:spPr>
          <a:xfrm>
            <a:off x="502920" y="1371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layer is a widely-used, well-documented tool. That's a feature: it means we ship a working demo in 8 hours, not a research prototype.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02920" y="1965960"/>
            <a:ext cx="11185855" cy="713232"/>
          </a:xfrm>
          <a:prstGeom prst="rect">
            <a:avLst/>
          </a:prstGeom>
          <a:solidFill>
            <a:srgbClr val="EDF2F7"/>
          </a:solidFill>
          <a:ln/>
        </p:spPr>
      </p:sp>
      <p:pic>
        <p:nvPicPr>
          <p:cNvPr id="9" name="Image 2" descr="icons/deskto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2167128"/>
            <a:ext cx="310896" cy="31089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1965960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50" dirty="0"/>
          </a:p>
        </p:txBody>
      </p:sp>
      <p:sp>
        <p:nvSpPr>
          <p:cNvPr id="11" name="Text 6"/>
          <p:cNvSpPr/>
          <p:nvPr/>
        </p:nvSpPr>
        <p:spPr>
          <a:xfrm>
            <a:off x="2880360" y="1965960"/>
            <a:ext cx="4251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Vite, Recharts, Tailwind CSS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7269480" y="1965960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to build, live charts, matches team's existing skillset</a:t>
            </a:r>
            <a:endParaRPr lang="en-US" sz="1050" dirty="0"/>
          </a:p>
        </p:txBody>
      </p:sp>
      <p:pic>
        <p:nvPicPr>
          <p:cNvPr id="13" name="Image 3" descr="icons/server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2880360"/>
            <a:ext cx="310896" cy="310896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188720" y="2679192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5" name="Text 9"/>
          <p:cNvSpPr/>
          <p:nvPr/>
        </p:nvSpPr>
        <p:spPr>
          <a:xfrm>
            <a:off x="2880360" y="2679192"/>
            <a:ext cx="4251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 3.11)</a:t>
            </a:r>
            <a:endParaRPr lang="en-US" sz="1150" dirty="0"/>
          </a:p>
        </p:txBody>
      </p:sp>
      <p:sp>
        <p:nvSpPr>
          <p:cNvPr id="16" name="Text 10"/>
          <p:cNvSpPr/>
          <p:nvPr/>
        </p:nvSpPr>
        <p:spPr>
          <a:xfrm>
            <a:off x="7269480" y="2679192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ingestion API, ML inference, and async telemetry</a:t>
            </a:r>
            <a:endParaRPr lang="en-US" sz="1050" dirty="0"/>
          </a:p>
        </p:txBody>
      </p:sp>
      <p:sp>
        <p:nvSpPr>
          <p:cNvPr id="17" name="Shape 11"/>
          <p:cNvSpPr/>
          <p:nvPr/>
        </p:nvSpPr>
        <p:spPr>
          <a:xfrm>
            <a:off x="502920" y="3392424"/>
            <a:ext cx="11185855" cy="713232"/>
          </a:xfrm>
          <a:prstGeom prst="rect">
            <a:avLst/>
          </a:prstGeom>
          <a:solidFill>
            <a:srgbClr val="EDF2F7"/>
          </a:solidFill>
          <a:ln/>
        </p:spPr>
      </p:sp>
      <p:pic>
        <p:nvPicPr>
          <p:cNvPr id="18" name="Image 4" descr="icons/database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3593592"/>
            <a:ext cx="310896" cy="310896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188720" y="3392424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50" dirty="0"/>
          </a:p>
        </p:txBody>
      </p:sp>
      <p:sp>
        <p:nvSpPr>
          <p:cNvPr id="20" name="Text 13"/>
          <p:cNvSpPr/>
          <p:nvPr/>
        </p:nvSpPr>
        <p:spPr>
          <a:xfrm>
            <a:off x="2880360" y="3392424"/>
            <a:ext cx="4251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Store</a:t>
            </a:r>
            <a:endParaRPr lang="en-US" sz="1150" dirty="0"/>
          </a:p>
        </p:txBody>
      </p:sp>
      <p:sp>
        <p:nvSpPr>
          <p:cNvPr id="21" name="Text 14"/>
          <p:cNvSpPr/>
          <p:nvPr/>
        </p:nvSpPr>
        <p:spPr>
          <a:xfrm>
            <a:off x="7269480" y="3392424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time-series sensor logs and alert history</a:t>
            </a:r>
            <a:endParaRPr lang="en-US" sz="1050" dirty="0"/>
          </a:p>
        </p:txBody>
      </p:sp>
      <p:pic>
        <p:nvPicPr>
          <p:cNvPr id="22" name="Image 5" descr="icons/brain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4306824"/>
            <a:ext cx="310896" cy="310896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188720" y="4105656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</a:t>
            </a:r>
            <a:endParaRPr lang="en-US" sz="1250" dirty="0"/>
          </a:p>
        </p:txBody>
      </p:sp>
      <p:sp>
        <p:nvSpPr>
          <p:cNvPr id="24" name="Text 16"/>
          <p:cNvSpPr/>
          <p:nvPr/>
        </p:nvSpPr>
        <p:spPr>
          <a:xfrm>
            <a:off x="2880360" y="4105656"/>
            <a:ext cx="4251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microservice — Isolation Forest (scikit-learn) / rolling z-score</a:t>
            </a:r>
            <a:endParaRPr lang="en-US" sz="1150" dirty="0"/>
          </a:p>
        </p:txBody>
      </p:sp>
      <p:sp>
        <p:nvSpPr>
          <p:cNvPr id="25" name="Text 17"/>
          <p:cNvSpPr/>
          <p:nvPr/>
        </p:nvSpPr>
        <p:spPr>
          <a:xfrm>
            <a:off x="7269480" y="4105656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Lightweight, fast to train, explainable to judges — not a black box</a:t>
            </a:r>
            <a:endParaRPr lang="en-US" sz="1050" dirty="0"/>
          </a:p>
        </p:txBody>
      </p:sp>
      <p:sp>
        <p:nvSpPr>
          <p:cNvPr id="26" name="Shape 18"/>
          <p:cNvSpPr/>
          <p:nvPr/>
        </p:nvSpPr>
        <p:spPr>
          <a:xfrm>
            <a:off x="502920" y="4818888"/>
            <a:ext cx="11185855" cy="713232"/>
          </a:xfrm>
          <a:prstGeom prst="rect">
            <a:avLst/>
          </a:prstGeom>
          <a:solidFill>
            <a:srgbClr val="EDF2F7"/>
          </a:solidFill>
          <a:ln/>
        </p:spPr>
      </p:sp>
      <p:pic>
        <p:nvPicPr>
          <p:cNvPr id="27" name="Image 6" descr="icons/wifi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232" y="5020056"/>
            <a:ext cx="310896" cy="310896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1188720" y="4818888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</a:t>
            </a:r>
            <a:endParaRPr lang="en-US" sz="1250" dirty="0"/>
          </a:p>
        </p:txBody>
      </p:sp>
      <p:sp>
        <p:nvSpPr>
          <p:cNvPr id="29" name="Text 20"/>
          <p:cNvSpPr/>
          <p:nvPr/>
        </p:nvSpPr>
        <p:spPr>
          <a:xfrm>
            <a:off x="2880360" y="4818888"/>
            <a:ext cx="4251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Python-based sensor simulator with injected anomalies</a:t>
            </a:r>
            <a:endParaRPr lang="en-US" sz="1150" dirty="0"/>
          </a:p>
        </p:txBody>
      </p:sp>
      <p:sp>
        <p:nvSpPr>
          <p:cNvPr id="30" name="Text 21"/>
          <p:cNvSpPr/>
          <p:nvPr/>
        </p:nvSpPr>
        <p:spPr>
          <a:xfrm>
            <a:off x="7269480" y="481888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Stands in for real IoT hardware for the demo</a:t>
            </a:r>
            <a:endParaRPr lang="en-US" sz="1050" dirty="0"/>
          </a:p>
        </p:txBody>
      </p:sp>
      <p:pic>
        <p:nvPicPr>
          <p:cNvPr id="31" name="Image 7" descr="icons/cloud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232" y="5733288"/>
            <a:ext cx="310896" cy="310896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1188720" y="5532120"/>
            <a:ext cx="1600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50" dirty="0"/>
          </a:p>
        </p:txBody>
      </p:sp>
      <p:sp>
        <p:nvSpPr>
          <p:cNvPr id="33" name="Text 23"/>
          <p:cNvSpPr/>
          <p:nvPr/>
        </p:nvSpPr>
        <p:spPr>
          <a:xfrm>
            <a:off x="2880360" y="5532120"/>
            <a:ext cx="4251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/ Render + GitHub</a:t>
            </a:r>
            <a:endParaRPr lang="en-US" sz="1150" dirty="0"/>
          </a:p>
        </p:txBody>
      </p:sp>
      <p:sp>
        <p:nvSpPr>
          <p:cNvPr id="34" name="Text 24"/>
          <p:cNvSpPr/>
          <p:nvPr/>
        </p:nvSpPr>
        <p:spPr>
          <a:xfrm>
            <a:off x="7269480" y="5532120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fast, gives us a live demo link</a:t>
            </a:r>
            <a:endParaRPr lang="en-US" sz="1050" dirty="0"/>
          </a:p>
        </p:txBody>
      </p:sp>
      <p:sp>
        <p:nvSpPr>
          <p:cNvPr id="35" name="Text 2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भारत  •  Team Gamma  •  PredictIQ</a:t>
            </a:r>
            <a:endParaRPr lang="en-US" sz="900" dirty="0"/>
          </a:p>
        </p:txBody>
      </p:sp>
      <p:sp>
        <p:nvSpPr>
          <p:cNvPr id="36" name="Text 26"/>
          <p:cNvSpPr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codevers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9975" y="256032"/>
            <a:ext cx="896112" cy="470916"/>
          </a:xfrm>
          <a:prstGeom prst="rect">
            <a:avLst/>
          </a:prstGeom>
        </p:spPr>
      </p:pic>
      <p:pic>
        <p:nvPicPr>
          <p:cNvPr id="3" name="Image 1" descr="logos/insight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274320"/>
            <a:ext cx="310896" cy="31089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59007" y="274320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
</a:t>
            </a:r>
            <a:r>
              <a:rPr lang="en-US" sz="6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Less. Solve More.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38404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WALKTHROUGH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02920" y="658368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3200" dirty="0"/>
          </a:p>
        </p:txBody>
      </p:sp>
      <p:sp>
        <p:nvSpPr>
          <p:cNvPr id="44" name="Text 3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भारत  •  Team Gamma  •  PredictIQ</a:t>
            </a:r>
            <a:endParaRPr lang="en-US" sz="900" dirty="0"/>
          </a:p>
        </p:txBody>
      </p:sp>
      <p:sp>
        <p:nvSpPr>
          <p:cNvPr id="45" name="Text 39"/>
          <p:cNvSpPr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10</a:t>
            </a:r>
            <a:endParaRPr lang="en-US" sz="900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248E4F2-3984-557C-53D9-EE62A492C0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029" y="774954"/>
            <a:ext cx="10933942" cy="562584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codevers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9975" y="256032"/>
            <a:ext cx="896112" cy="470916"/>
          </a:xfrm>
          <a:prstGeom prst="rect">
            <a:avLst/>
          </a:prstGeom>
        </p:spPr>
      </p:pic>
      <p:pic>
        <p:nvPicPr>
          <p:cNvPr id="3" name="Image 1" descr="logos/insight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274320"/>
            <a:ext cx="310896" cy="31089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59007" y="274320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
</a:t>
            </a:r>
            <a:r>
              <a:rPr lang="en-US" sz="6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Less. Solve More.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38404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INNOVATION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02920" y="658368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makes PredictIQ different</a:t>
            </a:r>
            <a:endParaRPr lang="en-US" sz="3200" dirty="0"/>
          </a:p>
        </p:txBody>
      </p:sp>
      <p:sp>
        <p:nvSpPr>
          <p:cNvPr id="7" name="Shape 3"/>
          <p:cNvSpPr/>
          <p:nvPr/>
        </p:nvSpPr>
        <p:spPr>
          <a:xfrm>
            <a:off x="502920" y="1508760"/>
            <a:ext cx="11185855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  <a:effectLst>
            <a:outerShdw blurRad="63500" dist="25400" dir="5400000" algn="bl" rotWithShape="0">
              <a:srgbClr val="9BB0C4">
                <a:alpha val="20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731520" y="1728216"/>
            <a:ext cx="640080" cy="640080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9" name="Image 2" descr="icons/eye_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1883664"/>
            <a:ext cx="329184" cy="32918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600200" y="1627632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Explainable, not a black box</a:t>
            </a:r>
            <a:endParaRPr lang="en-US" sz="1450" dirty="0"/>
          </a:p>
        </p:txBody>
      </p:sp>
      <p:sp>
        <p:nvSpPr>
          <p:cNvPr id="11" name="Text 6"/>
          <p:cNvSpPr/>
          <p:nvPr/>
        </p:nvSpPr>
        <p:spPr>
          <a:xfrm>
            <a:off x="1600200" y="1984248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 states the reason — “vibration 3x above baseline” — not just a mystery score. Judges (and factory owners) can verify the logic.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502920" y="2734056"/>
            <a:ext cx="11185855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  <a:effectLst>
            <a:outerShdw blurRad="63500" dist="25400" dir="5400000" algn="bl" rotWithShape="0">
              <a:srgbClr val="9BB0C4">
                <a:alpha val="20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31520" y="2953512"/>
            <a:ext cx="640080" cy="640080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14" name="Image 3" descr="icons/plug_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3108960"/>
            <a:ext cx="329184" cy="32918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600200" y="285292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Hardware-agnostic from day one</a:t>
            </a:r>
            <a:endParaRPr lang="en-US" sz="1450" dirty="0"/>
          </a:p>
        </p:txBody>
      </p:sp>
      <p:sp>
        <p:nvSpPr>
          <p:cNvPr id="16" name="Text 10"/>
          <p:cNvSpPr/>
          <p:nvPr/>
        </p:nvSpPr>
        <p:spPr>
          <a:xfrm>
            <a:off x="1600200" y="3209544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same ingestion API accepts simulated data today and real ESP32 + vibration/temp/current sensors tomorrow — no rebuild required.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502920" y="3959352"/>
            <a:ext cx="11185855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  <a:effectLst>
            <a:outerShdw blurRad="63500" dist="25400" dir="5400000" algn="bl" rotWithShape="0">
              <a:srgbClr val="9BB0C4">
                <a:alpha val="2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731520" y="4178808"/>
            <a:ext cx="640080" cy="640080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19" name="Image 4" descr="icons/rupee_te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4334256"/>
            <a:ext cx="329184" cy="32918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600200" y="4078224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ROI-first UX</a:t>
            </a:r>
            <a:endParaRPr lang="en-US" sz="1450" dirty="0"/>
          </a:p>
        </p:txBody>
      </p:sp>
      <p:sp>
        <p:nvSpPr>
          <p:cNvPr id="21" name="Text 14"/>
          <p:cNvSpPr/>
          <p:nvPr/>
        </p:nvSpPr>
        <p:spPr>
          <a:xfrm>
            <a:off x="1600200" y="443484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technical alert is auto-converted into a rupee figure, so a non-technical factory owner — not just an engineer — sees the value instantly.</a:t>
            </a:r>
            <a:endParaRPr lang="en-US" sz="1100" dirty="0"/>
          </a:p>
        </p:txBody>
      </p:sp>
      <p:sp>
        <p:nvSpPr>
          <p:cNvPr id="22" name="Shape 15"/>
          <p:cNvSpPr/>
          <p:nvPr/>
        </p:nvSpPr>
        <p:spPr>
          <a:xfrm>
            <a:off x="502920" y="5184648"/>
            <a:ext cx="11185855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  <a:effectLst>
            <a:outerShdw blurRad="63500" dist="25400" dir="5400000" algn="bl" rotWithShape="0">
              <a:srgbClr val="9BB0C4">
                <a:alpha val="20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731520" y="5404104"/>
            <a:ext cx="640080" cy="640080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24" name="Image 5" descr="icons/bolt_te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968" y="5559552"/>
            <a:ext cx="329184" cy="32918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600200" y="530352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real-time pipeline</a:t>
            </a:r>
            <a:endParaRPr lang="en-US" sz="1450" dirty="0"/>
          </a:p>
        </p:txBody>
      </p:sp>
      <p:sp>
        <p:nvSpPr>
          <p:cNvPr id="26" name="Text 18"/>
          <p:cNvSpPr/>
          <p:nvPr/>
        </p:nvSpPr>
        <p:spPr>
          <a:xfrm>
            <a:off x="1600200" y="5660136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streaming flags anomalies the moment they happen, not in a batch report the next morning.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भारत  •  Team Gamma  •  PredictIQ</a:t>
            </a:r>
            <a:endParaRPr lang="en-US" sz="900" dirty="0"/>
          </a:p>
        </p:txBody>
      </p:sp>
      <p:sp>
        <p:nvSpPr>
          <p:cNvPr id="28" name="Text 20"/>
          <p:cNvSpPr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codevers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9975" y="256032"/>
            <a:ext cx="896112" cy="470916"/>
          </a:xfrm>
          <a:prstGeom prst="rect">
            <a:avLst/>
          </a:prstGeom>
        </p:spPr>
      </p:pic>
      <p:pic>
        <p:nvPicPr>
          <p:cNvPr id="3" name="Image 1" descr="logos/insights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274320"/>
            <a:ext cx="310896" cy="31089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59007" y="274320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
</a:t>
            </a:r>
            <a:r>
              <a:rPr lang="en-US" sz="6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Less. Solve More.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38404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NEW — BEYOND THE ORIGINAL PLAN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02920" y="658368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upgrades that turn a hackathon build into a fundable product</a:t>
            </a:r>
            <a:endParaRPr lang="en-US" sz="3200" dirty="0"/>
          </a:p>
        </p:txBody>
      </p:sp>
      <p:sp>
        <p:nvSpPr>
          <p:cNvPr id="7" name="Shape 3"/>
          <p:cNvSpPr/>
          <p:nvPr/>
        </p:nvSpPr>
        <p:spPr>
          <a:xfrm>
            <a:off x="502920" y="1508760"/>
            <a:ext cx="11185855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  <a:effectLst>
            <a:outerShdw blurRad="63500" dist="25400" dir="5400000" algn="bl" rotWithShape="0">
              <a:srgbClr val="9BB0C4">
                <a:alpha val="20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731520" y="1728216"/>
            <a:ext cx="640080" cy="640080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9" name="Image 2" descr="icons/eye_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1883664"/>
            <a:ext cx="329184" cy="32918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600200" y="1627632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Useful Life, not just a %</a:t>
            </a:r>
            <a:endParaRPr lang="en-US" sz="1450" dirty="0"/>
          </a:p>
        </p:txBody>
      </p:sp>
      <p:sp>
        <p:nvSpPr>
          <p:cNvPr id="11" name="Text 6"/>
          <p:cNvSpPr/>
          <p:nvPr/>
        </p:nvSpPr>
        <p:spPr>
          <a:xfrm>
            <a:off x="1600200" y="1984248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critical alert now projects forward — “~2 days to bearing failure” — instead of a bare 91% score. That turns an alert into an actual maintenance decision, not just a warning.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502920" y="2734056"/>
            <a:ext cx="11185855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  <a:effectLst>
            <a:outerShdw blurRad="63500" dist="25400" dir="5400000" algn="bl" rotWithShape="0">
              <a:srgbClr val="9BB0C4">
                <a:alpha val="20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731520" y="2953512"/>
            <a:ext cx="640080" cy="640080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14" name="Image 3" descr="icons/plug_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" y="3108960"/>
            <a:ext cx="329184" cy="32918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600200" y="2852928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WhatsApp-first alerting</a:t>
            </a:r>
            <a:endParaRPr lang="en-US" sz="1450" dirty="0"/>
          </a:p>
        </p:txBody>
      </p:sp>
      <p:sp>
        <p:nvSpPr>
          <p:cNvPr id="16" name="Text 10"/>
          <p:cNvSpPr/>
          <p:nvPr/>
        </p:nvSpPr>
        <p:spPr>
          <a:xfrm>
            <a:off x="1600200" y="3209544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floor supervisor doesn't watch a dashboard all day — he reads WhatsApp. Every critical alert is modeled as a push to the floor, not just a badge nobody opens.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502920" y="3959352"/>
            <a:ext cx="11185855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  <a:effectLst>
            <a:outerShdw blurRad="63500" dist="25400" dir="5400000" algn="bl" rotWithShape="0">
              <a:srgbClr val="9BB0C4">
                <a:alpha val="2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731520" y="4178808"/>
            <a:ext cx="640080" cy="640080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19" name="Image 4" descr="icons/rupee_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4334256"/>
            <a:ext cx="329184" cy="32918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600200" y="4078224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to real MSME schemes</a:t>
            </a:r>
            <a:endParaRPr lang="en-US" sz="1450" dirty="0"/>
          </a:p>
        </p:txBody>
      </p:sp>
      <p:sp>
        <p:nvSpPr>
          <p:cNvPr id="21" name="Text 14"/>
          <p:cNvSpPr/>
          <p:nvPr/>
        </p:nvSpPr>
        <p:spPr>
          <a:xfrm>
            <a:off x="1600200" y="443484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Energy-waste tracking maps directly onto ZED Certification's energy pillar, and the product targets Udyam-registered MSMEs — the exact segment India's own schemes are built for.</a:t>
            </a:r>
            <a:endParaRPr lang="en-US" sz="1100" dirty="0"/>
          </a:p>
        </p:txBody>
      </p:sp>
      <p:sp>
        <p:nvSpPr>
          <p:cNvPr id="22" name="Shape 15"/>
          <p:cNvSpPr/>
          <p:nvPr/>
        </p:nvSpPr>
        <p:spPr>
          <a:xfrm>
            <a:off x="502920" y="5184648"/>
            <a:ext cx="11185855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  <a:effectLst>
            <a:outerShdw blurRad="63500" dist="25400" dir="5400000" algn="bl" rotWithShape="0">
              <a:srgbClr val="9BB0C4">
                <a:alpha val="20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731520" y="5404104"/>
            <a:ext cx="640080" cy="640080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24" name="Image 5" descr="icons/bolt_te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5559552"/>
            <a:ext cx="329184" cy="32918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600200" y="530352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builds, zero demo-day risk</a:t>
            </a:r>
            <a:endParaRPr lang="en-US" sz="1450" dirty="0"/>
          </a:p>
        </p:txBody>
      </p:sp>
      <p:sp>
        <p:nvSpPr>
          <p:cNvPr id="26" name="Text 18"/>
          <p:cNvSpPr/>
          <p:nvPr/>
        </p:nvSpPr>
        <p:spPr>
          <a:xfrm>
            <a:off x="1600200" y="5660136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self-contained offline dashboard for the live pitch (nothing to crash on stage), plus a real FastAPI + async telemetry backend for the code walkthrough — judges see a flawless demo backed by real code.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भारत  •  Team Gamma  •  PredictIQ</a:t>
            </a:r>
            <a:endParaRPr lang="en-US" sz="900" dirty="0"/>
          </a:p>
        </p:txBody>
      </p:sp>
      <p:sp>
        <p:nvSpPr>
          <p:cNvPr id="28" name="Text 20"/>
          <p:cNvSpPr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codevers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9975" y="256032"/>
            <a:ext cx="896112" cy="470916"/>
          </a:xfrm>
          <a:prstGeom prst="rect">
            <a:avLst/>
          </a:prstGeom>
        </p:spPr>
      </p:pic>
      <p:pic>
        <p:nvPicPr>
          <p:cNvPr id="3" name="Image 1" descr="logos/insight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274320"/>
            <a:ext cx="310896" cy="31089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59007" y="274320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
</a:t>
            </a:r>
            <a:r>
              <a:rPr lang="en-US" sz="6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Less. Solve More.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38404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&amp; COMPETITORS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02920" y="658368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platforms exist. MSMEs can't afford them.</a:t>
            </a:r>
            <a:endParaRPr lang="en-US" sz="3200" dirty="0"/>
          </a:p>
        </p:txBody>
      </p:sp>
      <p:sp>
        <p:nvSpPr>
          <p:cNvPr id="7" name="Text 3"/>
          <p:cNvSpPr/>
          <p:nvPr/>
        </p:nvSpPr>
        <p:spPr>
          <a:xfrm>
            <a:off x="2423160" y="1600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5074920" y="16002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7635240" y="16002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9646920" y="160020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cost / yr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02920" y="1965960"/>
            <a:ext cx="11185855" cy="0"/>
          </a:xfrm>
          <a:prstGeom prst="line">
            <a:avLst/>
          </a:prstGeom>
          <a:noFill/>
          <a:ln w="12700">
            <a:solidFill>
              <a:srgbClr val="D5DEE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02920" y="2057400"/>
            <a:ext cx="1691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Siemens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Senseye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423160" y="2057400"/>
            <a:ext cx="2423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Siemens-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plants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074920" y="205740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TIA /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MindSphere sensors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7635240" y="205740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Black-box ML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9646920" y="205740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$36,000+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502920" y="2834640"/>
            <a:ext cx="1691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Augury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2423160" y="2834640"/>
            <a:ext cx="2423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enterprise,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rotating equipment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5074920" y="283464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sensors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7635240" y="2834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Managed, opaque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9646920" y="283464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$12,000–$40,000+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02920" y="3611880"/>
            <a:ext cx="1691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 Digital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(Predix)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2423160" y="3611880"/>
            <a:ext cx="2423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&amp; oil-and-gas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enterprises</a:t>
            </a:r>
            <a:endParaRPr lang="en-US" sz="1050" dirty="0"/>
          </a:p>
        </p:txBody>
      </p:sp>
      <p:sp>
        <p:nvSpPr>
          <p:cNvPr id="24" name="Text 20"/>
          <p:cNvSpPr/>
          <p:nvPr/>
        </p:nvSpPr>
        <p:spPr>
          <a:xfrm>
            <a:off x="5074920" y="361188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Historian /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SCADA integration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7635240" y="361188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Complex, custom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9646920" y="361188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enterprise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411480" y="4334256"/>
            <a:ext cx="11368735" cy="822960"/>
          </a:xfrm>
          <a:prstGeom prst="roundRect">
            <a:avLst>
              <a:gd name="adj" fmla="val 6667"/>
            </a:avLst>
          </a:prstGeom>
          <a:solidFill>
            <a:srgbClr val="E7FBF5"/>
          </a:solidFill>
          <a:ln w="15875">
            <a:solidFill>
              <a:srgbClr val="00D9A3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94360" y="4389120"/>
            <a:ext cx="1691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A8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PredictIQ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A8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(us)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2423160" y="4389120"/>
            <a:ext cx="2423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MSME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manufacturers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074920" y="4389120"/>
            <a:ext cx="2331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Sensor-agnostic —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→ real, no rebuild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7635240" y="438912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(Isolation Forest)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9646920" y="4389120"/>
            <a:ext cx="1965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to start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(open-source stack)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502920" y="5303520"/>
            <a:ext cx="1118585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win on feasibility:  </a:t>
            </a:r>
            <a:r>
              <a:rPr lang="en-US" sz="10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component (React, FastAPI, scikit-learn) is a mature, documented library — low technical risk, 8-hour build window. Cold-start risk (no historical data) is mitigated with a rolling z-score fallback alongside Isolation Forest, and the demo's synthetic anomaly injection proves the pipeline end-to-end.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भारत  •  Team Gamma  •  PredictIQ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codevers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9975" y="256032"/>
            <a:ext cx="896112" cy="470916"/>
          </a:xfrm>
          <a:prstGeom prst="rect">
            <a:avLst/>
          </a:prstGeom>
        </p:spPr>
      </p:pic>
      <p:pic>
        <p:nvPicPr>
          <p:cNvPr id="3" name="Image 1" descr="logos/insight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274320"/>
            <a:ext cx="310896" cy="31089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59007" y="274320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
</a:t>
            </a:r>
            <a:r>
              <a:rPr lang="en-US" sz="650" i="1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Less. Solve More.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38404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MARKET OPPORTUNITY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02920" y="658368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$4B market that today's players can't reach</a:t>
            </a:r>
            <a:endParaRPr lang="en-US" sz="3200" dirty="0"/>
          </a:p>
        </p:txBody>
      </p:sp>
      <p:sp>
        <p:nvSpPr>
          <p:cNvPr id="7" name="Shape 3"/>
          <p:cNvSpPr/>
          <p:nvPr/>
        </p:nvSpPr>
        <p:spPr>
          <a:xfrm>
            <a:off x="502920" y="1508760"/>
            <a:ext cx="3520440" cy="1508760"/>
          </a:xfrm>
          <a:prstGeom prst="roundRect">
            <a:avLst>
              <a:gd name="adj" fmla="val 5455"/>
            </a:avLst>
          </a:prstGeom>
          <a:solidFill>
            <a:srgbClr val="132A46"/>
          </a:solidFill>
          <a:ln w="12700">
            <a:solidFill>
              <a:srgbClr val="2A4874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77240" y="169164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40–60%</a:t>
            </a:r>
            <a:endParaRPr lang="en-US" sz="3400" dirty="0"/>
          </a:p>
        </p:txBody>
      </p:sp>
      <p:sp>
        <p:nvSpPr>
          <p:cNvPr id="9" name="Text 5"/>
          <p:cNvSpPr/>
          <p:nvPr/>
        </p:nvSpPr>
        <p:spPr>
          <a:xfrm>
            <a:off x="777240" y="239572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FC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in unplanned downtime with predictive maintenance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206240" y="1508760"/>
            <a:ext cx="3520440" cy="1508760"/>
          </a:xfrm>
          <a:prstGeom prst="roundRect">
            <a:avLst>
              <a:gd name="adj" fmla="val 5455"/>
            </a:avLst>
          </a:prstGeom>
          <a:solidFill>
            <a:srgbClr val="132A46"/>
          </a:solidFill>
          <a:ln w="12700">
            <a:solidFill>
              <a:srgbClr val="2A4874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80560" y="169164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16.5M+</a:t>
            </a:r>
            <a:endParaRPr lang="en-US" sz="3400" dirty="0"/>
          </a:p>
        </p:txBody>
      </p:sp>
      <p:sp>
        <p:nvSpPr>
          <p:cNvPr id="12" name="Text 8"/>
          <p:cNvSpPr/>
          <p:nvPr/>
        </p:nvSpPr>
        <p:spPr>
          <a:xfrm>
            <a:off x="4480560" y="239572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FC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MSMEs in India — our addressable market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7909560" y="1508760"/>
            <a:ext cx="3520440" cy="1508760"/>
          </a:xfrm>
          <a:prstGeom prst="roundRect">
            <a:avLst>
              <a:gd name="adj" fmla="val 5455"/>
            </a:avLst>
          </a:prstGeom>
          <a:solidFill>
            <a:srgbClr val="132A46"/>
          </a:solidFill>
          <a:ln w="12700">
            <a:solidFill>
              <a:srgbClr val="2A487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183880" y="169164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D9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30.8%</a:t>
            </a:r>
            <a:endParaRPr lang="en-US" sz="3400" dirty="0"/>
          </a:p>
        </p:txBody>
      </p:sp>
      <p:sp>
        <p:nvSpPr>
          <p:cNvPr id="15" name="Text 11"/>
          <p:cNvSpPr/>
          <p:nvPr/>
        </p:nvSpPr>
        <p:spPr>
          <a:xfrm>
            <a:off x="8183880" y="2395728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AFC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of India's predictive maintenance market, 2026–32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02920" y="3246120"/>
            <a:ext cx="6400800" cy="2880360"/>
          </a:xfrm>
          <a:prstGeom prst="roundRect">
            <a:avLst>
              <a:gd name="adj" fmla="val 2540"/>
            </a:avLst>
          </a:prstGeom>
          <a:solidFill>
            <a:srgbClr val="132A46"/>
          </a:solidFill>
          <a:ln w="12700">
            <a:solidFill>
              <a:srgbClr val="2A4874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77240" y="340156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Predictive Maintenance Market (USD, Millions)</a:t>
            </a:r>
            <a:endParaRPr lang="en-US" sz="1100" dirty="0"/>
          </a:p>
        </p:txBody>
      </p:sp>
      <p:graphicFrame>
        <p:nvGraphicFramePr>
          <p:cNvPr id="18" name="Chart 0"/>
          <p:cNvGraphicFramePr/>
          <p:nvPr/>
        </p:nvGraphicFramePr>
        <p:xfrm>
          <a:off x="777240" y="3794760"/>
          <a:ext cx="585216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9" name="Text 14"/>
          <p:cNvSpPr/>
          <p:nvPr/>
        </p:nvSpPr>
        <p:spPr>
          <a:xfrm>
            <a:off x="777240" y="5897880"/>
            <a:ext cx="5852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6E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P&amp;S Intelligence, India Predictive Maintenance Market Report (30.8% CAGR, 2026–32)</a:t>
            </a:r>
            <a:endParaRPr lang="en-US" sz="750" dirty="0"/>
          </a:p>
        </p:txBody>
      </p:sp>
      <p:sp>
        <p:nvSpPr>
          <p:cNvPr id="20" name="Shape 15"/>
          <p:cNvSpPr/>
          <p:nvPr/>
        </p:nvSpPr>
        <p:spPr>
          <a:xfrm>
            <a:off x="7223760" y="3246120"/>
            <a:ext cx="4480560" cy="2880360"/>
          </a:xfrm>
          <a:prstGeom prst="roundRect">
            <a:avLst>
              <a:gd name="adj" fmla="val 2540"/>
            </a:avLst>
          </a:prstGeom>
          <a:solidFill>
            <a:srgbClr val="132A46"/>
          </a:solidFill>
          <a:ln w="12700">
            <a:solidFill>
              <a:srgbClr val="2A4874"/>
            </a:solidFill>
            <a:prstDash val="solid"/>
          </a:ln>
        </p:spPr>
      </p:sp>
      <p:pic>
        <p:nvPicPr>
          <p:cNvPr id="21" name="Image 2" descr="icons/factory_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0" y="3520440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046720" y="3538728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already leads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7498080" y="4023360"/>
            <a:ext cx="3931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AFC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holds the largest single share (35%) of India's predictive maintenance market in 2025 — and MSMEs, priced out of Siemens- and GE-class tools, are almost entirely unserved.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7498080" y="4983480"/>
            <a:ext cx="3931920" cy="0"/>
          </a:xfrm>
          <a:prstGeom prst="line">
            <a:avLst/>
          </a:prstGeom>
          <a:noFill/>
          <a:ln w="12700">
            <a:solidFill>
              <a:srgbClr val="2A4874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498080" y="5166360"/>
            <a:ext cx="3931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codebase powers both n-InC's Deeptech Bharat Hackathon and Build With Bharat 2026 — built once, pitched twice, pilot-ready for a real factory.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भारत  •  Team Gamma  •  PredictIQ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codevers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9975" y="256032"/>
            <a:ext cx="896112" cy="470916"/>
          </a:xfrm>
          <a:prstGeom prst="rect">
            <a:avLst/>
          </a:prstGeom>
        </p:spPr>
      </p:pic>
      <p:pic>
        <p:nvPicPr>
          <p:cNvPr id="3" name="Image 1" descr="logos/insights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274320"/>
            <a:ext cx="310896" cy="31089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259007" y="274320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
</a:t>
            </a:r>
            <a:r>
              <a:rPr lang="en-US" sz="6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Less. Solve More.</a:t>
            </a:r>
            <a:endParaRPr lang="en-US" sz="1100" dirty="0"/>
          </a:p>
        </p:txBody>
      </p:sp>
      <p:sp>
        <p:nvSpPr>
          <p:cNvPr id="5" name="Text 1"/>
          <p:cNvSpPr/>
          <p:nvPr/>
        </p:nvSpPr>
        <p:spPr>
          <a:xfrm>
            <a:off x="502920" y="38404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&amp; TEAM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02920" y="658368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find everything</a:t>
            </a:r>
            <a:endParaRPr lang="en-US" sz="3200" dirty="0"/>
          </a:p>
        </p:txBody>
      </p:sp>
      <p:sp>
        <p:nvSpPr>
          <p:cNvPr id="7" name="Shape 3"/>
          <p:cNvSpPr/>
          <p:nvPr/>
        </p:nvSpPr>
        <p:spPr>
          <a:xfrm>
            <a:off x="502920" y="1463040"/>
            <a:ext cx="5349240" cy="868680"/>
          </a:xfrm>
          <a:prstGeom prst="roundRect">
            <a:avLst>
              <a:gd name="adj" fmla="val 8421"/>
            </a:avLst>
          </a:prstGeom>
          <a:solidFill>
            <a:srgbClr val="0B1F3A"/>
          </a:solidFill>
          <a:ln/>
        </p:spPr>
      </p:sp>
      <p:sp>
        <p:nvSpPr>
          <p:cNvPr id="8" name="Shape 4"/>
          <p:cNvSpPr/>
          <p:nvPr/>
        </p:nvSpPr>
        <p:spPr>
          <a:xfrm>
            <a:off x="731520" y="1664208"/>
            <a:ext cx="457200" cy="457200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9" name="Image 2" descr="icons/github_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1792224"/>
            <a:ext cx="219456" cy="2194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25880" y="1572768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1325880" y="1883664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00D9A3"/>
                </a:solidFill>
              </a:rPr>
              <a:t>https://github.com/Priyanshi0907/NexFactory</a:t>
            </a:r>
          </a:p>
        </p:txBody>
      </p:sp>
      <p:sp>
        <p:nvSpPr>
          <p:cNvPr id="12" name="Shape 7"/>
          <p:cNvSpPr/>
          <p:nvPr/>
        </p:nvSpPr>
        <p:spPr>
          <a:xfrm>
            <a:off x="502920" y="2487168"/>
            <a:ext cx="5349240" cy="868680"/>
          </a:xfrm>
          <a:prstGeom prst="roundRect">
            <a:avLst>
              <a:gd name="adj" fmla="val 8421"/>
            </a:avLst>
          </a:prstGeom>
          <a:solidFill>
            <a:srgbClr val="0B1F3A"/>
          </a:solidFill>
          <a:ln/>
        </p:spPr>
      </p:sp>
      <p:sp>
        <p:nvSpPr>
          <p:cNvPr id="13" name="Shape 8"/>
          <p:cNvSpPr/>
          <p:nvPr/>
        </p:nvSpPr>
        <p:spPr>
          <a:xfrm>
            <a:off x="731520" y="2688336"/>
            <a:ext cx="457200" cy="457200"/>
          </a:xfrm>
          <a:prstGeom prst="ellipse">
            <a:avLst/>
          </a:prstGeom>
          <a:solidFill>
            <a:srgbClr val="132A46"/>
          </a:solidFill>
          <a:ln/>
        </p:spPr>
      </p:sp>
      <p:pic>
        <p:nvPicPr>
          <p:cNvPr id="14" name="Image 3" descr="icons/play_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" y="2816352"/>
            <a:ext cx="219456" cy="21945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325880" y="2596896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1325880" y="290779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>
                <a:solidFill>
                  <a:srgbClr val="00D9A3"/>
                </a:solidFill>
              </a:rPr>
              <a:t>https://nex-factory.vercel</a:t>
            </a:r>
            <a:r>
              <a:rPr lang="en-US" sz="1000">
                <a:solidFill>
                  <a:srgbClr val="00D9A3"/>
                </a:solidFill>
              </a:rPr>
              <a:t>.app</a:t>
            </a:r>
            <a:endParaRPr lang="en-US" sz="1000" dirty="0">
              <a:solidFill>
                <a:srgbClr val="00D9A3"/>
              </a:solidFill>
            </a:endParaRPr>
          </a:p>
        </p:txBody>
      </p:sp>
      <p:sp>
        <p:nvSpPr>
          <p:cNvPr id="17" name="Text 11"/>
          <p:cNvSpPr/>
          <p:nvPr/>
        </p:nvSpPr>
        <p:spPr>
          <a:xfrm>
            <a:off x="502920" y="3611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530352" y="3995928"/>
            <a:ext cx="54864" cy="54864"/>
          </a:xfrm>
          <a:prstGeom prst="ellipse">
            <a:avLst/>
          </a:prstGeom>
          <a:solidFill>
            <a:srgbClr val="00D9A3"/>
          </a:solidFill>
          <a:ln/>
        </p:spPr>
      </p:sp>
      <p:sp>
        <p:nvSpPr>
          <p:cNvPr id="19" name="Text 13"/>
          <p:cNvSpPr/>
          <p:nvPr/>
        </p:nvSpPr>
        <p:spPr>
          <a:xfrm>
            <a:off x="713232" y="3913632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 / Sapio Research — “The Value of Reliability” global downtime survey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530352" y="4361688"/>
            <a:ext cx="54864" cy="54864"/>
          </a:xfrm>
          <a:prstGeom prst="ellipse">
            <a:avLst/>
          </a:prstGeom>
          <a:solidFill>
            <a:srgbClr val="00D9A3"/>
          </a:solidFill>
          <a:ln/>
        </p:spPr>
      </p:sp>
      <p:sp>
        <p:nvSpPr>
          <p:cNvPr id="21" name="Text 15"/>
          <p:cNvSpPr/>
          <p:nvPr/>
        </p:nvSpPr>
        <p:spPr>
          <a:xfrm>
            <a:off x="713232" y="4279392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P&amp;S Intelligence — India Predictive Maintenance Market Report, 2026–2032</a:t>
            </a:r>
            <a:endParaRPr lang="en-US" sz="950" dirty="0"/>
          </a:p>
        </p:txBody>
      </p:sp>
      <p:sp>
        <p:nvSpPr>
          <p:cNvPr id="22" name="Shape 16"/>
          <p:cNvSpPr/>
          <p:nvPr/>
        </p:nvSpPr>
        <p:spPr>
          <a:xfrm>
            <a:off x="530352" y="4727448"/>
            <a:ext cx="54864" cy="54864"/>
          </a:xfrm>
          <a:prstGeom prst="ellipse">
            <a:avLst/>
          </a:prstGeom>
          <a:solidFill>
            <a:srgbClr val="00D9A3"/>
          </a:solidFill>
          <a:ln/>
        </p:spPr>
      </p:sp>
      <p:sp>
        <p:nvSpPr>
          <p:cNvPr id="23" name="Text 17"/>
          <p:cNvSpPr/>
          <p:nvPr/>
        </p:nvSpPr>
        <p:spPr>
          <a:xfrm>
            <a:off x="713232" y="4645152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IBEF — MSME Industry Report, Feb 2026 (Udyam registration data)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530352" y="5093208"/>
            <a:ext cx="54864" cy="54864"/>
          </a:xfrm>
          <a:prstGeom prst="ellipse">
            <a:avLst/>
          </a:prstGeom>
          <a:solidFill>
            <a:srgbClr val="00D9A3"/>
          </a:solidFill>
          <a:ln/>
        </p:spPr>
      </p:sp>
      <p:sp>
        <p:nvSpPr>
          <p:cNvPr id="25" name="Text 19"/>
          <p:cNvSpPr/>
          <p:nvPr/>
        </p:nvSpPr>
        <p:spPr>
          <a:xfrm>
            <a:off x="713232" y="5010912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documentation — Isolation Forest anomaly detection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502920" y="5440680"/>
            <a:ext cx="5349240" cy="685800"/>
          </a:xfrm>
          <a:prstGeom prst="roundRect">
            <a:avLst>
              <a:gd name="adj" fmla="val 10667"/>
            </a:avLst>
          </a:prstGeom>
          <a:solidFill>
            <a:srgbClr val="FFF6E8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27" name="Image 4" descr="icons/route_amb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605272"/>
            <a:ext cx="329184" cy="32918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143000" y="5486400"/>
            <a:ext cx="4572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880" dirty="0">
                <a:solidFill>
                  <a:srgbClr val="6B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swap the simulator for an ESP32 + vibration / temperature / current sensor rig — same ingestion API, zero code changes. Pilot-ready with a real factory.</a:t>
            </a:r>
            <a:endParaRPr lang="en-US" sz="880" dirty="0"/>
          </a:p>
        </p:txBody>
      </p:sp>
      <p:sp>
        <p:nvSpPr>
          <p:cNvPr id="29" name="Text 22"/>
          <p:cNvSpPr/>
          <p:nvPr/>
        </p:nvSpPr>
        <p:spPr>
          <a:xfrm>
            <a:off x="6263640" y="146304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GAMMA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6263640" y="178308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  <a:effectLst>
            <a:outerShdw blurRad="63500" dist="25400" dir="5400000" algn="bl" rotWithShape="0">
              <a:srgbClr val="9BB0C4">
                <a:alpha val="2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464808" y="1984248"/>
            <a:ext cx="502920" cy="50292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32" name="Text 25"/>
          <p:cNvSpPr/>
          <p:nvPr/>
        </p:nvSpPr>
        <p:spPr>
          <a:xfrm>
            <a:off x="6464808" y="19842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400" dirty="0"/>
          </a:p>
        </p:txBody>
      </p:sp>
      <p:sp>
        <p:nvSpPr>
          <p:cNvPr id="33" name="Text 26"/>
          <p:cNvSpPr/>
          <p:nvPr/>
        </p:nvSpPr>
        <p:spPr>
          <a:xfrm>
            <a:off x="7086600" y="2039112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Priyanshi Choudhary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961120" y="178308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  <a:effectLst>
            <a:outerShdw blurRad="63500" dist="25400" dir="5400000" algn="bl" rotWithShape="0">
              <a:srgbClr val="9BB0C4">
                <a:alpha val="20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9162288" y="1984248"/>
            <a:ext cx="502920" cy="50292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36" name="Text 29"/>
          <p:cNvSpPr/>
          <p:nvPr/>
        </p:nvSpPr>
        <p:spPr>
          <a:xfrm>
            <a:off x="9162288" y="19842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</a:t>
            </a:r>
            <a:endParaRPr lang="en-US" sz="1400" dirty="0"/>
          </a:p>
        </p:txBody>
      </p:sp>
      <p:sp>
        <p:nvSpPr>
          <p:cNvPr id="37" name="Text 30"/>
          <p:cNvSpPr/>
          <p:nvPr/>
        </p:nvSpPr>
        <p:spPr>
          <a:xfrm>
            <a:off x="9784080" y="2039112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Raina Goel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6263640" y="320040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  <a:effectLst>
            <a:outerShdw blurRad="63500" dist="25400" dir="5400000" algn="bl" rotWithShape="0">
              <a:srgbClr val="9BB0C4">
                <a:alpha val="20000"/>
              </a:srgbClr>
            </a:outerShdw>
          </a:effectLst>
        </p:spPr>
      </p:sp>
      <p:sp>
        <p:nvSpPr>
          <p:cNvPr id="39" name="Shape 32"/>
          <p:cNvSpPr/>
          <p:nvPr/>
        </p:nvSpPr>
        <p:spPr>
          <a:xfrm>
            <a:off x="6464808" y="3401568"/>
            <a:ext cx="502920" cy="50292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40" name="Text 33"/>
          <p:cNvSpPr/>
          <p:nvPr/>
        </p:nvSpPr>
        <p:spPr>
          <a:xfrm>
            <a:off x="6464808" y="34015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KC</a:t>
            </a:r>
            <a:endParaRPr lang="en-US" sz="1400" dirty="0"/>
          </a:p>
        </p:txBody>
      </p:sp>
      <p:sp>
        <p:nvSpPr>
          <p:cNvPr id="41" name="Text 34"/>
          <p:cNvSpPr/>
          <p:nvPr/>
        </p:nvSpPr>
        <p:spPr>
          <a:xfrm>
            <a:off x="7086600" y="3456432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Kunal Chauhan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8961120" y="320040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EAF2"/>
            </a:solidFill>
            <a:prstDash val="solid"/>
          </a:ln>
          <a:effectLst>
            <a:outerShdw blurRad="63500" dist="25400" dir="5400000" algn="bl" rotWithShape="0">
              <a:srgbClr val="9BB0C4">
                <a:alpha val="20000"/>
              </a:srgbClr>
            </a:outerShdw>
          </a:effectLst>
        </p:spPr>
      </p:sp>
      <p:sp>
        <p:nvSpPr>
          <p:cNvPr id="43" name="Shape 36"/>
          <p:cNvSpPr/>
          <p:nvPr/>
        </p:nvSpPr>
        <p:spPr>
          <a:xfrm>
            <a:off x="9162288" y="3401568"/>
            <a:ext cx="502920" cy="50292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44" name="Text 37"/>
          <p:cNvSpPr/>
          <p:nvPr/>
        </p:nvSpPr>
        <p:spPr>
          <a:xfrm>
            <a:off x="9162288" y="34015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KT</a:t>
            </a:r>
            <a:endParaRPr lang="en-US" sz="1400" dirty="0"/>
          </a:p>
        </p:txBody>
      </p:sp>
      <p:sp>
        <p:nvSpPr>
          <p:cNvPr id="45" name="Text 38"/>
          <p:cNvSpPr/>
          <p:nvPr/>
        </p:nvSpPr>
        <p:spPr>
          <a:xfrm>
            <a:off x="9784080" y="3456432"/>
            <a:ext cx="1600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Kartik Tyagi</a:t>
            </a:r>
            <a:endParaRPr lang="en-US" sz="1100" dirty="0"/>
          </a:p>
        </p:txBody>
      </p:sp>
      <p:sp>
        <p:nvSpPr>
          <p:cNvPr id="46" name="Shape 39"/>
          <p:cNvSpPr/>
          <p:nvPr/>
        </p:nvSpPr>
        <p:spPr>
          <a:xfrm>
            <a:off x="6263640" y="470916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0B1F3A"/>
          </a:solidFill>
          <a:ln/>
        </p:spPr>
      </p:sp>
      <p:pic>
        <p:nvPicPr>
          <p:cNvPr id="47" name="Image 5" descr="icons/handshake_te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92240" y="4919472"/>
            <a:ext cx="365760" cy="365760"/>
          </a:xfrm>
          <a:prstGeom prst="rect">
            <a:avLst/>
          </a:prstGeom>
        </p:spPr>
      </p:pic>
      <p:sp>
        <p:nvSpPr>
          <p:cNvPr id="48" name="Text 40"/>
          <p:cNvSpPr/>
          <p:nvPr/>
        </p:nvSpPr>
        <p:spPr>
          <a:xfrm>
            <a:off x="6995160" y="48920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1500" dirty="0"/>
          </a:p>
        </p:txBody>
      </p:sp>
      <p:sp>
        <p:nvSpPr>
          <p:cNvPr id="49" name="Text 41"/>
          <p:cNvSpPr/>
          <p:nvPr/>
        </p:nvSpPr>
        <p:spPr>
          <a:xfrm>
            <a:off x="6492240" y="534924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AFC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Build With भारत 2026 by Team Gamma. Software today, factory-floor-ready tomorrow.</a:t>
            </a:r>
            <a:endParaRPr lang="en-US" sz="1000" dirty="0"/>
          </a:p>
        </p:txBody>
      </p:sp>
      <p:sp>
        <p:nvSpPr>
          <p:cNvPr id="50" name="Text 4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भारत  •  Team Gamma  •  PredictIQ</a:t>
            </a:r>
            <a:endParaRPr lang="en-US" sz="900" dirty="0"/>
          </a:p>
        </p:txBody>
      </p:sp>
      <p:sp>
        <p:nvSpPr>
          <p:cNvPr id="51" name="Text 43"/>
          <p:cNvSpPr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1706</Words>
  <Application>Microsoft Office PowerPoint</Application>
  <PresentationFormat>Widescreen</PresentationFormat>
  <Paragraphs>226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priyanshi choudhary</cp:lastModifiedBy>
  <cp:revision>3</cp:revision>
  <dcterms:created xsi:type="dcterms:W3CDTF">2026-07-22T09:22:41Z</dcterms:created>
  <dcterms:modified xsi:type="dcterms:W3CDTF">2026-07-23T14:42:25Z</dcterms:modified>
</cp:coreProperties>
</file>